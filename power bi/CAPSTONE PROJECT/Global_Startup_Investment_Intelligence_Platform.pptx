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Funding ($B)</c:v>
                </c:pt>
              </c:strCache>
            </c:strRef>
          </c:tx>
          <c:spPr>
            <a:solidFill>
              <a:srgbClr val="C99A3E"/>
            </a:solidFill>
            <a:effectLst/>
          </c:spPr>
          <c:invertIfNegative val="0"/>
          <c:dLbls>
            <c:numFmt formatCode="#,##0" sourceLinked="0"/>
            <c:txPr>
              <a:bodyPr/>
              <a:lstStyle/>
              <a:p>
                <a:pPr>
                  <a:defRPr b="0" i="0" strike="noStrike" sz="1000" u="none">
                    <a:solidFill>
                      <a:srgbClr val="1B2436"/>
                    </a:solidFill>
                    <a:latin typeface="Arial"/>
                  </a:defRPr>
                </a:pPr>
              </a:p>
            </c:txPr>
            <c:showLegendKey val="0"/>
            <c:showVal val="1"/>
            <c:showCatName val="0"/>
            <c:showSerName val="0"/>
            <c:showPercent val="0"/>
            <c:showBubbleSize val="0"/>
            <c:showLeaderLines val="0"/>
          </c:dLbls>
          <c:cat>
            <c:multiLvlStrRef>
              <c:f>Sheet1!$A$2:$A$7</c:f>
              <c:multiLvlStrCache>
                <c:ptCount val="6"/>
                <c:lvl>
                  <c:pt idx="0">
                    <c:v>Biotech</c:v>
                  </c:pt>
                  <c:pt idx="1">
                    <c:v>Software</c:v>
                  </c:pt>
                  <c:pt idx="2">
                    <c:v>Cleantech</c:v>
                  </c:pt>
                  <c:pt idx="3">
                    <c:v>Mobile</c:v>
                  </c:pt>
                  <c:pt idx="4">
                    <c:v>Enterprise</c:v>
                  </c:pt>
                  <c:pt idx="5">
                    <c:v>Web</c:v>
                  </c:pt>
                </c:lvl>
              </c:multiLvlStrCache>
            </c:multiLvlStrRef>
          </c:cat>
          <c:val>
            <c:numRef>
              <c:f>Sheet1!$B$2:$B$7</c:f>
              <c:numCache>
                <c:formatCode>General</c:formatCode>
                <c:ptCount val="6"/>
                <c:pt idx="0">
                  <c:v>66.9</c:v>
                </c:pt>
                <c:pt idx="1">
                  <c:v>41.8</c:v>
                </c:pt>
                <c:pt idx="2">
                  <c:v>38.7</c:v>
                </c:pt>
                <c:pt idx="3">
                  <c:v>29.9</c:v>
                </c:pt>
                <c:pt idx="4">
                  <c:v>21.3</c:v>
                </c:pt>
                <c:pt idx="5">
                  <c:v>18.9</c:v>
                </c:pt>
              </c:numCache>
            </c:numRef>
          </c:val>
        </c:ser>
        <c:dLbls>
          <c:numFmt formatCode="#,##0" sourceLinked="0"/>
          <c:txPr>
            <a:bodyPr/>
            <a:lstStyle/>
            <a:p>
              <a:pPr>
                <a:defRPr b="0" i="0" strike="noStrike" sz="1000" u="none">
                  <a:solidFill>
                    <a:srgbClr val="1B2436"/>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5718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Funding ($B)</c:v>
                </c:pt>
              </c:strCache>
            </c:strRef>
          </c:tx>
          <c:spPr>
            <a:solidFill>
              <a:srgbClr val="3E5C82"/>
            </a:solidFill>
            <a:effectLst/>
          </c:spPr>
          <c:invertIfNegative val="0"/>
          <c:dLbls>
            <c:numFmt formatCode="#,##0" sourceLinked="0"/>
            <c:txPr>
              <a:bodyPr/>
              <a:lstStyle/>
              <a:p>
                <a:pPr>
                  <a:defRPr b="0" i="0" strike="noStrike" sz="1000" u="none">
                    <a:solidFill>
                      <a:srgbClr val="1B2436"/>
                    </a:solidFill>
                    <a:latin typeface="Arial"/>
                  </a:defRPr>
                </a:pPr>
              </a:p>
            </c:txPr>
            <c:showLegendKey val="0"/>
            <c:showVal val="1"/>
            <c:showCatName val="0"/>
            <c:showSerName val="0"/>
            <c:showPercent val="0"/>
            <c:showBubbleSize val="0"/>
            <c:showLeaderLines val="0"/>
          </c:dLbls>
          <c:cat>
            <c:multiLvlStrRef>
              <c:f>Sheet1!$A$2:$A$7</c:f>
              <c:multiLvlStrCache>
                <c:ptCount val="6"/>
                <c:lvl>
                  <c:pt idx="0">
                    <c:v>USA</c:v>
                  </c:pt>
                  <c:pt idx="1">
                    <c:v>UK</c:v>
                  </c:pt>
                  <c:pt idx="2">
                    <c:v>China</c:v>
                  </c:pt>
                  <c:pt idx="3">
                    <c:v>Canada</c:v>
                  </c:pt>
                  <c:pt idx="4">
                    <c:v>India</c:v>
                  </c:pt>
                  <c:pt idx="5">
                    <c:v>Germany</c:v>
                  </c:pt>
                </c:lvl>
              </c:multiLvlStrCache>
            </c:multiLvlStrRef>
          </c:cat>
          <c:val>
            <c:numRef>
              <c:f>Sheet1!$B$2:$B$7</c:f>
              <c:numCache>
                <c:formatCode>General</c:formatCode>
                <c:ptCount val="6"/>
                <c:pt idx="0">
                  <c:v>310.6</c:v>
                </c:pt>
                <c:pt idx="1">
                  <c:v>17.7</c:v>
                </c:pt>
                <c:pt idx="2">
                  <c:v>10.7</c:v>
                </c:pt>
                <c:pt idx="3">
                  <c:v>9.9</c:v>
                </c:pt>
                <c:pt idx="4">
                  <c:v>6.1</c:v>
                </c:pt>
                <c:pt idx="5">
                  <c:v>5.8</c:v>
                </c:pt>
              </c:numCache>
            </c:numRef>
          </c:val>
        </c:ser>
        <c:dLbls>
          <c:numFmt formatCode="#,##0" sourceLinked="0"/>
          <c:txPr>
            <a:bodyPr/>
            <a:lstStyle/>
            <a:p>
              <a:pPr>
                <a:defRPr b="0" i="0" strike="noStrike" sz="1000" u="none">
                  <a:solidFill>
                    <a:srgbClr val="1B2436"/>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5718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p:bgPr>
    </p:bg>
    <p:spTree>
      <p:nvGrpSpPr>
        <p:cNvPr id="1" name=""/>
        <p:cNvGrpSpPr/>
        <p:nvPr/>
      </p:nvGrpSpPr>
      <p:grpSpPr>
        <a:xfrm>
          <a:off x="0" y="0"/>
          <a:ext cx="0" cy="0"/>
          <a:chOff x="0" y="0"/>
          <a:chExt cx="0" cy="0"/>
        </a:xfrm>
      </p:grpSpPr>
      <p:sp>
        <p:nvSpPr>
          <p:cNvPr id="2" name="Shape 0"/>
          <p:cNvSpPr/>
          <p:nvPr/>
        </p:nvSpPr>
        <p:spPr>
          <a:xfrm>
            <a:off x="9784080" y="-1463040"/>
            <a:ext cx="4572000" cy="4572000"/>
          </a:xfrm>
          <a:prstGeom prst="ellipse">
            <a:avLst/>
          </a:prstGeom>
          <a:solidFill>
            <a:srgbClr val="132A4F"/>
          </a:solidFill>
          <a:ln/>
        </p:spPr>
      </p:sp>
      <p:sp>
        <p:nvSpPr>
          <p:cNvPr id="3" name="Shape 1"/>
          <p:cNvSpPr/>
          <p:nvPr/>
        </p:nvSpPr>
        <p:spPr>
          <a:xfrm>
            <a:off x="-1645920" y="4754880"/>
            <a:ext cx="3840480" cy="3840480"/>
          </a:xfrm>
          <a:prstGeom prst="ellipse">
            <a:avLst/>
          </a:prstGeom>
          <a:solidFill>
            <a:srgbClr val="132A4F"/>
          </a:solidFill>
          <a:ln/>
        </p:spPr>
      </p:sp>
      <p:sp>
        <p:nvSpPr>
          <p:cNvPr id="4" name="Shape 2"/>
          <p:cNvSpPr/>
          <p:nvPr/>
        </p:nvSpPr>
        <p:spPr>
          <a:xfrm>
            <a:off x="822960" y="777240"/>
            <a:ext cx="777240" cy="777240"/>
          </a:xfrm>
          <a:prstGeom prst="ellipse">
            <a:avLst/>
          </a:prstGeom>
          <a:solidFill>
            <a:srgbClr val="C99A3E"/>
          </a:solidFill>
          <a:ln/>
        </p:spPr>
      </p:sp>
      <p:pic>
        <p:nvPicPr>
          <p:cNvPr id="5" name="Image 0" descr="preencoded.png">    </p:cNvPr>
          <p:cNvPicPr>
            <a:picLocks noChangeAspect="1"/>
          </p:cNvPicPr>
          <p:nvPr/>
        </p:nvPicPr>
        <p:blipFill>
          <a:blip r:embed="rId1"/>
          <a:stretch>
            <a:fillRect/>
          </a:stretch>
        </p:blipFill>
        <p:spPr>
          <a:xfrm>
            <a:off x="997839" y="952119"/>
            <a:ext cx="427482" cy="427482"/>
          </a:xfrm>
          <a:prstGeom prst="rect">
            <a:avLst/>
          </a:prstGeom>
        </p:spPr>
      </p:pic>
      <p:sp>
        <p:nvSpPr>
          <p:cNvPr id="6" name="Text 3"/>
          <p:cNvSpPr/>
          <p:nvPr/>
        </p:nvSpPr>
        <p:spPr>
          <a:xfrm>
            <a:off x="822960" y="2286000"/>
            <a:ext cx="1051560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GLOBAL STARTUP &amp; INVESTMENT</a:t>
            </a:r>
            <a:endParaRPr lang="en-US" sz="4000" dirty="0"/>
          </a:p>
        </p:txBody>
      </p:sp>
      <p:sp>
        <p:nvSpPr>
          <p:cNvPr id="7" name="Text 4"/>
          <p:cNvSpPr/>
          <p:nvPr/>
        </p:nvSpPr>
        <p:spPr>
          <a:xfrm>
            <a:off x="822960" y="2971800"/>
            <a:ext cx="10515600" cy="822960"/>
          </a:xfrm>
          <a:prstGeom prst="rect">
            <a:avLst/>
          </a:prstGeom>
          <a:noFill/>
          <a:ln/>
        </p:spPr>
        <p:txBody>
          <a:bodyPr wrap="square" lIns="0" tIns="0" rIns="0" bIns="0" rtlCol="0" anchor="ctr"/>
          <a:lstStyle/>
          <a:p>
            <a:pPr algn="l" indent="0" marL="0">
              <a:buNone/>
            </a:pPr>
            <a:r>
              <a:rPr lang="en-US" sz="4000" b="1" dirty="0">
                <a:solidFill>
                  <a:srgbClr val="E8C97A"/>
                </a:solidFill>
                <a:latin typeface="Cambria" pitchFamily="34" charset="0"/>
                <a:ea typeface="Cambria" pitchFamily="34" charset="-122"/>
                <a:cs typeface="Cambria" pitchFamily="34" charset="-120"/>
              </a:rPr>
              <a:t>INTELLIGENCE PLATFORM</a:t>
            </a:r>
            <a:endParaRPr lang="en-US" sz="4000" dirty="0"/>
          </a:p>
        </p:txBody>
      </p:sp>
      <p:sp>
        <p:nvSpPr>
          <p:cNvPr id="8" name="Text 5"/>
          <p:cNvSpPr/>
          <p:nvPr/>
        </p:nvSpPr>
        <p:spPr>
          <a:xfrm>
            <a:off x="868680" y="3886200"/>
            <a:ext cx="9601200" cy="731520"/>
          </a:xfrm>
          <a:prstGeom prst="rect">
            <a:avLst/>
          </a:prstGeom>
          <a:noFill/>
          <a:ln/>
        </p:spPr>
        <p:txBody>
          <a:bodyPr wrap="square" rtlCol="0" anchor="ctr"/>
          <a:lstStyle/>
          <a:p>
            <a:pPr indent="0" marL="0">
              <a:lnSpc>
                <a:spcPct val="115000"/>
              </a:lnSpc>
              <a:buNone/>
            </a:pPr>
            <a:r>
              <a:rPr lang="en-US" sz="1500" i="1" dirty="0">
                <a:solidFill>
                  <a:srgbClr val="AFC3DD"/>
                </a:solidFill>
                <a:latin typeface="Calibri" pitchFamily="34" charset="0"/>
                <a:ea typeface="Calibri" pitchFamily="34" charset="-122"/>
                <a:cs typeface="Calibri" pitchFamily="34" charset="-120"/>
              </a:rPr>
              <a:t>A Power BI-Driven Platform for Analyzing Startup Ecosystems, Funding Trends,</a:t>
            </a:r>
            <a:endParaRPr lang="en-US" sz="1500" dirty="0"/>
          </a:p>
          <a:p>
            <a:pPr indent="0" marL="0">
              <a:lnSpc>
                <a:spcPct val="115000"/>
              </a:lnSpc>
              <a:buNone/>
            </a:pPr>
            <a:r>
              <a:rPr lang="en-US" sz="1500" i="1" dirty="0">
                <a:solidFill>
                  <a:srgbClr val="AFC3DD"/>
                </a:solidFill>
                <a:latin typeface="Calibri" pitchFamily="34" charset="0"/>
                <a:ea typeface="Calibri" pitchFamily="34" charset="-122"/>
                <a:cs typeface="Calibri" pitchFamily="34" charset="-120"/>
              </a:rPr>
              <a:t>Venture Capital Investments, Acquisitions, and IPO Performance</a:t>
            </a:r>
            <a:endParaRPr lang="en-US" sz="1500" dirty="0"/>
          </a:p>
        </p:txBody>
      </p:sp>
      <p:sp>
        <p:nvSpPr>
          <p:cNvPr id="9" name="Text 6"/>
          <p:cNvSpPr/>
          <p:nvPr/>
        </p:nvSpPr>
        <p:spPr>
          <a:xfrm>
            <a:off x="868680" y="5212080"/>
            <a:ext cx="25146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$413B+</a:t>
            </a:r>
            <a:endParaRPr lang="en-US" sz="2600" dirty="0"/>
          </a:p>
        </p:txBody>
      </p:sp>
      <p:sp>
        <p:nvSpPr>
          <p:cNvPr id="10" name="Text 7"/>
          <p:cNvSpPr/>
          <p:nvPr/>
        </p:nvSpPr>
        <p:spPr>
          <a:xfrm>
            <a:off x="868680" y="5742432"/>
            <a:ext cx="2514600" cy="320040"/>
          </a:xfrm>
          <a:prstGeom prst="rect">
            <a:avLst/>
          </a:prstGeom>
          <a:noFill/>
          <a:ln/>
        </p:spPr>
        <p:txBody>
          <a:bodyPr wrap="square" lIns="0" tIns="0" rIns="0" bIns="0" rtlCol="0" anchor="ctr"/>
          <a:lstStyle/>
          <a:p>
            <a:pPr indent="0" marL="0">
              <a:buNone/>
            </a:pPr>
            <a:r>
              <a:rPr lang="en-US" sz="1050" spc="100" kern="0" dirty="0">
                <a:solidFill>
                  <a:srgbClr val="AFC3DD"/>
                </a:solidFill>
                <a:latin typeface="Calibri" pitchFamily="34" charset="0"/>
                <a:ea typeface="Calibri" pitchFamily="34" charset="-122"/>
                <a:cs typeface="Calibri" pitchFamily="34" charset="-120"/>
              </a:rPr>
              <a:t>FUNDING TRACKED</a:t>
            </a:r>
            <a:endParaRPr lang="en-US" sz="1050" dirty="0"/>
          </a:p>
        </p:txBody>
      </p:sp>
      <p:sp>
        <p:nvSpPr>
          <p:cNvPr id="11" name="Text 8"/>
          <p:cNvSpPr/>
          <p:nvPr/>
        </p:nvSpPr>
        <p:spPr>
          <a:xfrm>
            <a:off x="3383280" y="5212080"/>
            <a:ext cx="25146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196,553</a:t>
            </a:r>
            <a:endParaRPr lang="en-US" sz="2600" dirty="0"/>
          </a:p>
        </p:txBody>
      </p:sp>
      <p:sp>
        <p:nvSpPr>
          <p:cNvPr id="12" name="Text 9"/>
          <p:cNvSpPr/>
          <p:nvPr/>
        </p:nvSpPr>
        <p:spPr>
          <a:xfrm>
            <a:off x="3383280" y="5742432"/>
            <a:ext cx="2514600" cy="320040"/>
          </a:xfrm>
          <a:prstGeom prst="rect">
            <a:avLst/>
          </a:prstGeom>
          <a:noFill/>
          <a:ln/>
        </p:spPr>
        <p:txBody>
          <a:bodyPr wrap="square" lIns="0" tIns="0" rIns="0" bIns="0" rtlCol="0" anchor="ctr"/>
          <a:lstStyle/>
          <a:p>
            <a:pPr indent="0" marL="0">
              <a:buNone/>
            </a:pPr>
            <a:r>
              <a:rPr lang="en-US" sz="1050" spc="100" kern="0" dirty="0">
                <a:solidFill>
                  <a:srgbClr val="AFC3DD"/>
                </a:solidFill>
                <a:latin typeface="Calibri" pitchFamily="34" charset="0"/>
                <a:ea typeface="Calibri" pitchFamily="34" charset="-122"/>
                <a:cs typeface="Calibri" pitchFamily="34" charset="-120"/>
              </a:rPr>
              <a:t>STARTUPS</a:t>
            </a:r>
            <a:endParaRPr lang="en-US" sz="1050" dirty="0"/>
          </a:p>
        </p:txBody>
      </p:sp>
      <p:sp>
        <p:nvSpPr>
          <p:cNvPr id="13" name="Text 10"/>
          <p:cNvSpPr/>
          <p:nvPr/>
        </p:nvSpPr>
        <p:spPr>
          <a:xfrm>
            <a:off x="5897880" y="5212080"/>
            <a:ext cx="25146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175</a:t>
            </a:r>
            <a:endParaRPr lang="en-US" sz="2600" dirty="0"/>
          </a:p>
        </p:txBody>
      </p:sp>
      <p:sp>
        <p:nvSpPr>
          <p:cNvPr id="14" name="Text 11"/>
          <p:cNvSpPr/>
          <p:nvPr/>
        </p:nvSpPr>
        <p:spPr>
          <a:xfrm>
            <a:off x="5897880" y="5742432"/>
            <a:ext cx="2514600" cy="320040"/>
          </a:xfrm>
          <a:prstGeom prst="rect">
            <a:avLst/>
          </a:prstGeom>
          <a:noFill/>
          <a:ln/>
        </p:spPr>
        <p:txBody>
          <a:bodyPr wrap="square" lIns="0" tIns="0" rIns="0" bIns="0" rtlCol="0" anchor="ctr"/>
          <a:lstStyle/>
          <a:p>
            <a:pPr indent="0" marL="0">
              <a:buNone/>
            </a:pPr>
            <a:r>
              <a:rPr lang="en-US" sz="1050" spc="100" kern="0" dirty="0">
                <a:solidFill>
                  <a:srgbClr val="AFC3DD"/>
                </a:solidFill>
                <a:latin typeface="Calibri" pitchFamily="34" charset="0"/>
                <a:ea typeface="Calibri" pitchFamily="34" charset="-122"/>
                <a:cs typeface="Calibri" pitchFamily="34" charset="-120"/>
              </a:rPr>
              <a:t>COUNTRIES</a:t>
            </a:r>
            <a:endParaRPr lang="en-US" sz="1050" dirty="0"/>
          </a:p>
        </p:txBody>
      </p:sp>
      <p:sp>
        <p:nvSpPr>
          <p:cNvPr id="15" name="Text 12"/>
          <p:cNvSpPr/>
          <p:nvPr/>
        </p:nvSpPr>
        <p:spPr>
          <a:xfrm>
            <a:off x="8412480" y="5212080"/>
            <a:ext cx="25146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52,928</a:t>
            </a:r>
            <a:endParaRPr lang="en-US" sz="2600" dirty="0"/>
          </a:p>
        </p:txBody>
      </p:sp>
      <p:sp>
        <p:nvSpPr>
          <p:cNvPr id="16" name="Text 13"/>
          <p:cNvSpPr/>
          <p:nvPr/>
        </p:nvSpPr>
        <p:spPr>
          <a:xfrm>
            <a:off x="8412480" y="5742432"/>
            <a:ext cx="2514600" cy="320040"/>
          </a:xfrm>
          <a:prstGeom prst="rect">
            <a:avLst/>
          </a:prstGeom>
          <a:noFill/>
          <a:ln/>
        </p:spPr>
        <p:txBody>
          <a:bodyPr wrap="square" lIns="0" tIns="0" rIns="0" bIns="0" rtlCol="0" anchor="ctr"/>
          <a:lstStyle/>
          <a:p>
            <a:pPr indent="0" marL="0">
              <a:buNone/>
            </a:pPr>
            <a:r>
              <a:rPr lang="en-US" sz="1050" spc="100" kern="0" dirty="0">
                <a:solidFill>
                  <a:srgbClr val="AFC3DD"/>
                </a:solidFill>
                <a:latin typeface="Calibri" pitchFamily="34" charset="0"/>
                <a:ea typeface="Calibri" pitchFamily="34" charset="-122"/>
                <a:cs typeface="Calibri" pitchFamily="34" charset="-120"/>
              </a:rPr>
              <a:t>FUNDING ROUNDS</a:t>
            </a:r>
            <a:endParaRPr lang="en-US" sz="1050" dirty="0"/>
          </a:p>
        </p:txBody>
      </p:sp>
      <p:sp>
        <p:nvSpPr>
          <p:cNvPr id="17" name="Text 14"/>
          <p:cNvSpPr/>
          <p:nvPr/>
        </p:nvSpPr>
        <p:spPr>
          <a:xfrm>
            <a:off x="868680" y="6446520"/>
            <a:ext cx="10058400" cy="274320"/>
          </a:xfrm>
          <a:prstGeom prst="rect">
            <a:avLst/>
          </a:prstGeom>
          <a:noFill/>
          <a:ln/>
        </p:spPr>
        <p:txBody>
          <a:bodyPr wrap="square" rtlCol="0" anchor="ctr"/>
          <a:lstStyle/>
          <a:p>
            <a:pPr indent="0" marL="0">
              <a:buNone/>
            </a:pPr>
            <a:r>
              <a:rPr lang="en-US" sz="1000" dirty="0">
                <a:solidFill>
                  <a:srgbClr val="6F84A8"/>
                </a:solidFill>
                <a:latin typeface="Calibri" pitchFamily="34" charset="0"/>
                <a:ea typeface="Calibri" pitchFamily="34" charset="-122"/>
                <a:cs typeface="Calibri" pitchFamily="34" charset="-120"/>
              </a:rPr>
              <a:t>Crunchbase Startup Investment Dataset  |  Power BI · Power Query · DAX</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200" b="1" dirty="0">
                <a:solidFill>
                  <a:srgbClr val="0B1E3D"/>
                </a:solidFill>
                <a:latin typeface="Cambria" pitchFamily="34" charset="0"/>
                <a:ea typeface="Cambria" pitchFamily="34" charset="-122"/>
                <a:cs typeface="Cambria" pitchFamily="34" charset="-120"/>
              </a:rPr>
              <a:t>Executive Summary</a:t>
            </a:r>
            <a:endParaRPr lang="en-US" sz="3200" dirty="0"/>
          </a:p>
        </p:txBody>
      </p:sp>
      <p:sp>
        <p:nvSpPr>
          <p:cNvPr id="3" name="Text 1"/>
          <p:cNvSpPr/>
          <p:nvPr/>
        </p:nvSpPr>
        <p:spPr>
          <a:xfrm>
            <a:off x="640080" y="1371600"/>
            <a:ext cx="6035040" cy="4754880"/>
          </a:xfrm>
          <a:prstGeom prst="rect">
            <a:avLst/>
          </a:prstGeom>
          <a:noFill/>
          <a:ln/>
        </p:spPr>
        <p:txBody>
          <a:bodyPr wrap="square" rtlCol="0" anchor="t"/>
          <a:lstStyle/>
          <a:p>
            <a:pPr indent="0" marL="0">
              <a:lnSpc>
                <a:spcPct val="128000"/>
              </a:lnSpc>
              <a:buNone/>
            </a:pPr>
            <a:r>
              <a:rPr lang="en-US" sz="1450" dirty="0">
                <a:solidFill>
                  <a:srgbClr val="1B2436"/>
                </a:solidFill>
                <a:latin typeface="Calibri" pitchFamily="34" charset="0"/>
                <a:ea typeface="Calibri" pitchFamily="34" charset="-122"/>
                <a:cs typeface="Calibri" pitchFamily="34" charset="-120"/>
              </a:rPr>
              <a:t>The Global Startup &amp; Investment Intelligence Platform is a business intelligence solution that brings together startup profiles, funding rounds, investor activity, acquisitions, and IPO outcomes into one interactive Power BI environment.</a:t>
            </a:r>
            <a:endParaRPr lang="en-US" sz="1450" dirty="0"/>
          </a:p>
          <a:p>
            <a:pPr indent="0" marL="0">
              <a:lnSpc>
                <a:spcPct val="128000"/>
              </a:lnSpc>
              <a:buNone/>
            </a:pPr>
            <a:endParaRPr lang="en-US" sz="1450" dirty="0"/>
          </a:p>
          <a:p>
            <a:pPr indent="0" marL="0">
              <a:lnSpc>
                <a:spcPct val="128000"/>
              </a:lnSpc>
              <a:buNone/>
            </a:pPr>
            <a:r>
              <a:rPr lang="en-US" sz="1450" dirty="0">
                <a:solidFill>
                  <a:srgbClr val="1B2436"/>
                </a:solidFill>
                <a:latin typeface="Calibri" pitchFamily="34" charset="0"/>
                <a:ea typeface="Calibri" pitchFamily="34" charset="-122"/>
                <a:cs typeface="Calibri" pitchFamily="34" charset="-120"/>
              </a:rPr>
              <a:t>Instead of leaving investors, founders, and analysts to piece together fragmented spreadsheets, the platform converts millions of raw investment records into clear, explorable dashboards — surfacing which sectors attract the most capital, how funding behaves over time, and where global startup activity is concentrated.</a:t>
            </a:r>
            <a:endParaRPr lang="en-US" sz="1450" dirty="0"/>
          </a:p>
        </p:txBody>
      </p:sp>
      <p:sp>
        <p:nvSpPr>
          <p:cNvPr id="4" name="Shape 2"/>
          <p:cNvSpPr/>
          <p:nvPr/>
        </p:nvSpPr>
        <p:spPr>
          <a:xfrm>
            <a:off x="7040880" y="1417320"/>
            <a:ext cx="2240280" cy="2103120"/>
          </a:xfrm>
          <a:prstGeom prst="roundRect">
            <a:avLst>
              <a:gd name="adj" fmla="val 3478"/>
            </a:avLst>
          </a:prstGeom>
          <a:solidFill>
            <a:srgbClr val="FFFFFF"/>
          </a:solidFill>
          <a:ln/>
          <a:effectLst>
            <a:outerShdw sx="100000" sy="100000" kx="0" ky="0" algn="bl" rotWithShape="0" blurRad="101600" dist="38100" dir="2700000">
              <a:srgbClr val="0B1E3D">
                <a:alpha val="18000"/>
              </a:srgbClr>
            </a:outerShdw>
          </a:effectLst>
        </p:spPr>
      </p:sp>
      <p:pic>
        <p:nvPicPr>
          <p:cNvPr id="5" name="Image 0" descr="preencoded.png">    </p:cNvPr>
          <p:cNvPicPr>
            <a:picLocks noChangeAspect="1"/>
          </p:cNvPicPr>
          <p:nvPr/>
        </p:nvPicPr>
        <p:blipFill>
          <a:blip r:embed="rId1"/>
          <a:stretch>
            <a:fillRect/>
          </a:stretch>
        </p:blipFill>
        <p:spPr>
          <a:xfrm>
            <a:off x="7269480" y="1645920"/>
            <a:ext cx="502920" cy="502920"/>
          </a:xfrm>
          <a:prstGeom prst="rect">
            <a:avLst/>
          </a:prstGeom>
        </p:spPr>
      </p:pic>
      <p:sp>
        <p:nvSpPr>
          <p:cNvPr id="6" name="Text 3"/>
          <p:cNvSpPr/>
          <p:nvPr/>
        </p:nvSpPr>
        <p:spPr>
          <a:xfrm>
            <a:off x="7223760" y="2286000"/>
            <a:ext cx="1874520" cy="502920"/>
          </a:xfrm>
          <a:prstGeom prst="rect">
            <a:avLst/>
          </a:prstGeom>
          <a:noFill/>
          <a:ln/>
        </p:spPr>
        <p:txBody>
          <a:bodyPr wrap="square" lIns="0" tIns="0" rIns="0" bIns="0" rtlCol="0" anchor="ctr"/>
          <a:lstStyle/>
          <a:p>
            <a:pPr indent="0" marL="0">
              <a:buNone/>
            </a:pPr>
            <a:r>
              <a:rPr lang="en-US" sz="2400" b="1" dirty="0">
                <a:solidFill>
                  <a:srgbClr val="0B1E3D"/>
                </a:solidFill>
                <a:latin typeface="Cambria" pitchFamily="34" charset="0"/>
                <a:ea typeface="Cambria" pitchFamily="34" charset="-122"/>
                <a:cs typeface="Cambria" pitchFamily="34" charset="-120"/>
              </a:rPr>
              <a:t>$413B+</a:t>
            </a:r>
            <a:endParaRPr lang="en-US" sz="2400" dirty="0"/>
          </a:p>
        </p:txBody>
      </p:sp>
      <p:sp>
        <p:nvSpPr>
          <p:cNvPr id="7" name="Text 4"/>
          <p:cNvSpPr/>
          <p:nvPr/>
        </p:nvSpPr>
        <p:spPr>
          <a:xfrm>
            <a:off x="7223760" y="2834640"/>
            <a:ext cx="1874520" cy="548640"/>
          </a:xfrm>
          <a:prstGeom prst="rect">
            <a:avLst/>
          </a:prstGeom>
          <a:noFill/>
          <a:ln/>
        </p:spPr>
        <p:txBody>
          <a:bodyPr wrap="square" lIns="0" tIns="0" rIns="0" bIns="0" rtlCol="0" anchor="ctr"/>
          <a:lstStyle/>
          <a:p>
            <a:pPr indent="0" marL="0">
              <a:lnSpc>
                <a:spcPct val="110000"/>
              </a:lnSpc>
              <a:buNone/>
            </a:pPr>
            <a:r>
              <a:rPr lang="en-US" sz="1150" dirty="0">
                <a:solidFill>
                  <a:srgbClr val="65718A"/>
                </a:solidFill>
                <a:latin typeface="Calibri" pitchFamily="34" charset="0"/>
                <a:ea typeface="Calibri" pitchFamily="34" charset="-122"/>
                <a:cs typeface="Calibri" pitchFamily="34" charset="-120"/>
              </a:rPr>
              <a:t>Total Funding Tracked</a:t>
            </a:r>
            <a:endParaRPr lang="en-US" sz="1150" dirty="0"/>
          </a:p>
        </p:txBody>
      </p:sp>
      <p:sp>
        <p:nvSpPr>
          <p:cNvPr id="8" name="Shape 5"/>
          <p:cNvSpPr/>
          <p:nvPr/>
        </p:nvSpPr>
        <p:spPr>
          <a:xfrm>
            <a:off x="9509760" y="1417320"/>
            <a:ext cx="2240280" cy="2103120"/>
          </a:xfrm>
          <a:prstGeom prst="roundRect">
            <a:avLst>
              <a:gd name="adj" fmla="val 3478"/>
            </a:avLst>
          </a:prstGeom>
          <a:solidFill>
            <a:srgbClr val="FFFFFF"/>
          </a:solidFill>
          <a:ln/>
          <a:effectLst>
            <a:outerShdw sx="100000" sy="100000" kx="0" ky="0" algn="bl" rotWithShape="0" blurRad="101600" dist="38100" dir="2700000">
              <a:srgbClr val="0B1E3D">
                <a:alpha val="18000"/>
              </a:srgbClr>
            </a:outerShdw>
          </a:effectLst>
        </p:spPr>
      </p:sp>
      <p:pic>
        <p:nvPicPr>
          <p:cNvPr id="9" name="Image 1" descr="preencoded.png">    </p:cNvPr>
          <p:cNvPicPr>
            <a:picLocks noChangeAspect="1"/>
          </p:cNvPicPr>
          <p:nvPr/>
        </p:nvPicPr>
        <p:blipFill>
          <a:blip r:embed="rId2"/>
          <a:stretch>
            <a:fillRect/>
          </a:stretch>
        </p:blipFill>
        <p:spPr>
          <a:xfrm>
            <a:off x="9738360" y="1645920"/>
            <a:ext cx="502920" cy="502920"/>
          </a:xfrm>
          <a:prstGeom prst="rect">
            <a:avLst/>
          </a:prstGeom>
        </p:spPr>
      </p:pic>
      <p:sp>
        <p:nvSpPr>
          <p:cNvPr id="10" name="Text 6"/>
          <p:cNvSpPr/>
          <p:nvPr/>
        </p:nvSpPr>
        <p:spPr>
          <a:xfrm>
            <a:off x="9692640" y="2286000"/>
            <a:ext cx="1874520" cy="502920"/>
          </a:xfrm>
          <a:prstGeom prst="rect">
            <a:avLst/>
          </a:prstGeom>
          <a:noFill/>
          <a:ln/>
        </p:spPr>
        <p:txBody>
          <a:bodyPr wrap="square" lIns="0" tIns="0" rIns="0" bIns="0" rtlCol="0" anchor="ctr"/>
          <a:lstStyle/>
          <a:p>
            <a:pPr indent="0" marL="0">
              <a:buNone/>
            </a:pPr>
            <a:r>
              <a:rPr lang="en-US" sz="2400" b="1" dirty="0">
                <a:solidFill>
                  <a:srgbClr val="0B1E3D"/>
                </a:solidFill>
                <a:latin typeface="Cambria" pitchFamily="34" charset="0"/>
                <a:ea typeface="Cambria" pitchFamily="34" charset="-122"/>
                <a:cs typeface="Cambria" pitchFamily="34" charset="-120"/>
              </a:rPr>
              <a:t>196,553</a:t>
            </a:r>
            <a:endParaRPr lang="en-US" sz="2400" dirty="0"/>
          </a:p>
        </p:txBody>
      </p:sp>
      <p:sp>
        <p:nvSpPr>
          <p:cNvPr id="11" name="Text 7"/>
          <p:cNvSpPr/>
          <p:nvPr/>
        </p:nvSpPr>
        <p:spPr>
          <a:xfrm>
            <a:off x="9692640" y="2834640"/>
            <a:ext cx="1874520" cy="548640"/>
          </a:xfrm>
          <a:prstGeom prst="rect">
            <a:avLst/>
          </a:prstGeom>
          <a:noFill/>
          <a:ln/>
        </p:spPr>
        <p:txBody>
          <a:bodyPr wrap="square" lIns="0" tIns="0" rIns="0" bIns="0" rtlCol="0" anchor="ctr"/>
          <a:lstStyle/>
          <a:p>
            <a:pPr indent="0" marL="0">
              <a:lnSpc>
                <a:spcPct val="110000"/>
              </a:lnSpc>
              <a:buNone/>
            </a:pPr>
            <a:r>
              <a:rPr lang="en-US" sz="1150" dirty="0">
                <a:solidFill>
                  <a:srgbClr val="65718A"/>
                </a:solidFill>
                <a:latin typeface="Calibri" pitchFamily="34" charset="0"/>
                <a:ea typeface="Calibri" pitchFamily="34" charset="-122"/>
                <a:cs typeface="Calibri" pitchFamily="34" charset="-120"/>
              </a:rPr>
              <a:t>Startups Analyzed</a:t>
            </a:r>
            <a:endParaRPr lang="en-US" sz="1150" dirty="0"/>
          </a:p>
        </p:txBody>
      </p:sp>
      <p:sp>
        <p:nvSpPr>
          <p:cNvPr id="12" name="Shape 8"/>
          <p:cNvSpPr/>
          <p:nvPr/>
        </p:nvSpPr>
        <p:spPr>
          <a:xfrm>
            <a:off x="7040880" y="3749040"/>
            <a:ext cx="2240280" cy="2103120"/>
          </a:xfrm>
          <a:prstGeom prst="roundRect">
            <a:avLst>
              <a:gd name="adj" fmla="val 3478"/>
            </a:avLst>
          </a:prstGeom>
          <a:solidFill>
            <a:srgbClr val="FFFFFF"/>
          </a:solidFill>
          <a:ln/>
          <a:effectLst>
            <a:outerShdw sx="100000" sy="100000" kx="0" ky="0" algn="bl" rotWithShape="0" blurRad="101600" dist="38100" dir="2700000">
              <a:srgbClr val="0B1E3D">
                <a:alpha val="18000"/>
              </a:srgbClr>
            </a:outerShdw>
          </a:effectLst>
        </p:spPr>
      </p:sp>
      <p:pic>
        <p:nvPicPr>
          <p:cNvPr id="13" name="Image 2" descr="preencoded.png">    </p:cNvPr>
          <p:cNvPicPr>
            <a:picLocks noChangeAspect="1"/>
          </p:cNvPicPr>
          <p:nvPr/>
        </p:nvPicPr>
        <p:blipFill>
          <a:blip r:embed="rId3"/>
          <a:stretch>
            <a:fillRect/>
          </a:stretch>
        </p:blipFill>
        <p:spPr>
          <a:xfrm>
            <a:off x="7269480" y="3977640"/>
            <a:ext cx="502920" cy="502920"/>
          </a:xfrm>
          <a:prstGeom prst="rect">
            <a:avLst/>
          </a:prstGeom>
        </p:spPr>
      </p:pic>
      <p:sp>
        <p:nvSpPr>
          <p:cNvPr id="14" name="Text 9"/>
          <p:cNvSpPr/>
          <p:nvPr/>
        </p:nvSpPr>
        <p:spPr>
          <a:xfrm>
            <a:off x="7223760" y="4617720"/>
            <a:ext cx="1874520" cy="502920"/>
          </a:xfrm>
          <a:prstGeom prst="rect">
            <a:avLst/>
          </a:prstGeom>
          <a:noFill/>
          <a:ln/>
        </p:spPr>
        <p:txBody>
          <a:bodyPr wrap="square" lIns="0" tIns="0" rIns="0" bIns="0" rtlCol="0" anchor="ctr"/>
          <a:lstStyle/>
          <a:p>
            <a:pPr indent="0" marL="0">
              <a:buNone/>
            </a:pPr>
            <a:r>
              <a:rPr lang="en-US" sz="2400" b="1" dirty="0">
                <a:solidFill>
                  <a:srgbClr val="0B1E3D"/>
                </a:solidFill>
                <a:latin typeface="Cambria" pitchFamily="34" charset="0"/>
                <a:ea typeface="Cambria" pitchFamily="34" charset="-122"/>
                <a:cs typeface="Cambria" pitchFamily="34" charset="-120"/>
              </a:rPr>
              <a:t>52,928</a:t>
            </a:r>
            <a:endParaRPr lang="en-US" sz="2400" dirty="0"/>
          </a:p>
        </p:txBody>
      </p:sp>
      <p:sp>
        <p:nvSpPr>
          <p:cNvPr id="15" name="Text 10"/>
          <p:cNvSpPr/>
          <p:nvPr/>
        </p:nvSpPr>
        <p:spPr>
          <a:xfrm>
            <a:off x="7223760" y="5166360"/>
            <a:ext cx="1874520" cy="548640"/>
          </a:xfrm>
          <a:prstGeom prst="rect">
            <a:avLst/>
          </a:prstGeom>
          <a:noFill/>
          <a:ln/>
        </p:spPr>
        <p:txBody>
          <a:bodyPr wrap="square" lIns="0" tIns="0" rIns="0" bIns="0" rtlCol="0" anchor="ctr"/>
          <a:lstStyle/>
          <a:p>
            <a:pPr indent="0" marL="0">
              <a:lnSpc>
                <a:spcPct val="110000"/>
              </a:lnSpc>
              <a:buNone/>
            </a:pPr>
            <a:r>
              <a:rPr lang="en-US" sz="1150" dirty="0">
                <a:solidFill>
                  <a:srgbClr val="65718A"/>
                </a:solidFill>
                <a:latin typeface="Calibri" pitchFamily="34" charset="0"/>
                <a:ea typeface="Calibri" pitchFamily="34" charset="-122"/>
                <a:cs typeface="Calibri" pitchFamily="34" charset="-120"/>
              </a:rPr>
              <a:t>Funding Rounds</a:t>
            </a:r>
            <a:endParaRPr lang="en-US" sz="1150" dirty="0"/>
          </a:p>
        </p:txBody>
      </p:sp>
      <p:sp>
        <p:nvSpPr>
          <p:cNvPr id="16" name="Shape 11"/>
          <p:cNvSpPr/>
          <p:nvPr/>
        </p:nvSpPr>
        <p:spPr>
          <a:xfrm>
            <a:off x="9509760" y="3749040"/>
            <a:ext cx="2240280" cy="2103120"/>
          </a:xfrm>
          <a:prstGeom prst="roundRect">
            <a:avLst>
              <a:gd name="adj" fmla="val 3478"/>
            </a:avLst>
          </a:prstGeom>
          <a:solidFill>
            <a:srgbClr val="FFFFFF"/>
          </a:solidFill>
          <a:ln/>
          <a:effectLst>
            <a:outerShdw sx="100000" sy="100000" kx="0" ky="0" algn="bl" rotWithShape="0" blurRad="101600" dist="38100" dir="2700000">
              <a:srgbClr val="0B1E3D">
                <a:alpha val="18000"/>
              </a:srgbClr>
            </a:outerShdw>
          </a:effectLst>
        </p:spPr>
      </p:sp>
      <p:pic>
        <p:nvPicPr>
          <p:cNvPr id="17" name="Image 3" descr="preencoded.png">    </p:cNvPr>
          <p:cNvPicPr>
            <a:picLocks noChangeAspect="1"/>
          </p:cNvPicPr>
          <p:nvPr/>
        </p:nvPicPr>
        <p:blipFill>
          <a:blip r:embed="rId4"/>
          <a:stretch>
            <a:fillRect/>
          </a:stretch>
        </p:blipFill>
        <p:spPr>
          <a:xfrm>
            <a:off x="9738360" y="3977640"/>
            <a:ext cx="502920" cy="502920"/>
          </a:xfrm>
          <a:prstGeom prst="rect">
            <a:avLst/>
          </a:prstGeom>
        </p:spPr>
      </p:pic>
      <p:sp>
        <p:nvSpPr>
          <p:cNvPr id="18" name="Text 12"/>
          <p:cNvSpPr/>
          <p:nvPr/>
        </p:nvSpPr>
        <p:spPr>
          <a:xfrm>
            <a:off x="9692640" y="4617720"/>
            <a:ext cx="1874520" cy="502920"/>
          </a:xfrm>
          <a:prstGeom prst="rect">
            <a:avLst/>
          </a:prstGeom>
          <a:noFill/>
          <a:ln/>
        </p:spPr>
        <p:txBody>
          <a:bodyPr wrap="square" lIns="0" tIns="0" rIns="0" bIns="0" rtlCol="0" anchor="ctr"/>
          <a:lstStyle/>
          <a:p>
            <a:pPr indent="0" marL="0">
              <a:buNone/>
            </a:pPr>
            <a:r>
              <a:rPr lang="en-US" sz="2400" b="1" dirty="0">
                <a:solidFill>
                  <a:srgbClr val="0B1E3D"/>
                </a:solidFill>
                <a:latin typeface="Cambria" pitchFamily="34" charset="0"/>
                <a:ea typeface="Cambria" pitchFamily="34" charset="-122"/>
                <a:cs typeface="Cambria" pitchFamily="34" charset="-120"/>
              </a:rPr>
              <a:t>175</a:t>
            </a:r>
            <a:endParaRPr lang="en-US" sz="2400" dirty="0"/>
          </a:p>
        </p:txBody>
      </p:sp>
      <p:sp>
        <p:nvSpPr>
          <p:cNvPr id="19" name="Text 13"/>
          <p:cNvSpPr/>
          <p:nvPr/>
        </p:nvSpPr>
        <p:spPr>
          <a:xfrm>
            <a:off x="9692640" y="5166360"/>
            <a:ext cx="1874520" cy="548640"/>
          </a:xfrm>
          <a:prstGeom prst="rect">
            <a:avLst/>
          </a:prstGeom>
          <a:noFill/>
          <a:ln/>
        </p:spPr>
        <p:txBody>
          <a:bodyPr wrap="square" lIns="0" tIns="0" rIns="0" bIns="0" rtlCol="0" anchor="ctr"/>
          <a:lstStyle/>
          <a:p>
            <a:pPr indent="0" marL="0">
              <a:lnSpc>
                <a:spcPct val="110000"/>
              </a:lnSpc>
              <a:buNone/>
            </a:pPr>
            <a:r>
              <a:rPr lang="en-US" sz="1150" dirty="0">
                <a:solidFill>
                  <a:srgbClr val="65718A"/>
                </a:solidFill>
                <a:latin typeface="Calibri" pitchFamily="34" charset="0"/>
                <a:ea typeface="Calibri" pitchFamily="34" charset="-122"/>
                <a:cs typeface="Calibri" pitchFamily="34" charset="-120"/>
              </a:rPr>
              <a:t>Countries Covered</a:t>
            </a:r>
            <a:endParaRPr lang="en-US" sz="1150" dirty="0"/>
          </a:p>
        </p:txBody>
      </p:sp>
      <p:sp>
        <p:nvSpPr>
          <p:cNvPr id="20" name="Text 14"/>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65718A"/>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21" name="Text 15"/>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65718A"/>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200" b="1" dirty="0">
                <a:solidFill>
                  <a:srgbClr val="0B1E3D"/>
                </a:solidFill>
                <a:latin typeface="Cambria" pitchFamily="34" charset="0"/>
                <a:ea typeface="Cambria" pitchFamily="34" charset="-122"/>
                <a:cs typeface="Cambria" pitchFamily="34" charset="-120"/>
              </a:rPr>
              <a:t>The Problem &amp; Our Objectives</a:t>
            </a:r>
            <a:endParaRPr lang="en-US" sz="3200" dirty="0"/>
          </a:p>
        </p:txBody>
      </p:sp>
      <p:sp>
        <p:nvSpPr>
          <p:cNvPr id="3" name="Shape 1"/>
          <p:cNvSpPr/>
          <p:nvPr/>
        </p:nvSpPr>
        <p:spPr>
          <a:xfrm>
            <a:off x="640080" y="1371600"/>
            <a:ext cx="5303520" cy="4754880"/>
          </a:xfrm>
          <a:prstGeom prst="roundRect">
            <a:avLst>
              <a:gd name="adj" fmla="val 1923"/>
            </a:avLst>
          </a:prstGeom>
          <a:solidFill>
            <a:srgbClr val="0B1E3D"/>
          </a:solidFill>
          <a:ln/>
          <a:effectLst>
            <a:outerShdw sx="100000" sy="100000" kx="0" ky="0" algn="bl" rotWithShape="0" blurRad="101600" dist="38100" dir="2700000">
              <a:srgbClr val="0B1E3D">
                <a:alpha val="18000"/>
              </a:srgbClr>
            </a:outerShdw>
          </a:effectLst>
        </p:spPr>
      </p:sp>
      <p:sp>
        <p:nvSpPr>
          <p:cNvPr id="4" name="Shape 2"/>
          <p:cNvSpPr/>
          <p:nvPr/>
        </p:nvSpPr>
        <p:spPr>
          <a:xfrm>
            <a:off x="960120" y="1691640"/>
            <a:ext cx="548640" cy="548640"/>
          </a:xfrm>
          <a:prstGeom prst="ellipse">
            <a:avLst/>
          </a:prstGeom>
          <a:solidFill>
            <a:srgbClr val="C99A3E"/>
          </a:solidFill>
          <a:ln/>
        </p:spPr>
      </p:sp>
      <p:pic>
        <p:nvPicPr>
          <p:cNvPr id="5" name="Image 0" descr="preencoded.png">    </p:cNvPr>
          <p:cNvPicPr>
            <a:picLocks noChangeAspect="1"/>
          </p:cNvPicPr>
          <p:nvPr/>
        </p:nvPicPr>
        <p:blipFill>
          <a:blip r:embed="rId1"/>
          <a:stretch>
            <a:fillRect/>
          </a:stretch>
        </p:blipFill>
        <p:spPr>
          <a:xfrm>
            <a:off x="1083564" y="1815084"/>
            <a:ext cx="301752" cy="301752"/>
          </a:xfrm>
          <a:prstGeom prst="rect">
            <a:avLst/>
          </a:prstGeom>
        </p:spPr>
      </p:pic>
      <p:sp>
        <p:nvSpPr>
          <p:cNvPr id="6" name="Text 3"/>
          <p:cNvSpPr/>
          <p:nvPr/>
        </p:nvSpPr>
        <p:spPr>
          <a:xfrm>
            <a:off x="1645920" y="1755648"/>
            <a:ext cx="41148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Why This Matters</a:t>
            </a:r>
            <a:endParaRPr lang="en-US" sz="1800" dirty="0"/>
          </a:p>
        </p:txBody>
      </p:sp>
      <p:sp>
        <p:nvSpPr>
          <p:cNvPr id="7" name="Text 4"/>
          <p:cNvSpPr/>
          <p:nvPr/>
        </p:nvSpPr>
        <p:spPr>
          <a:xfrm>
            <a:off x="960120" y="2468880"/>
            <a:ext cx="4709160" cy="3474720"/>
          </a:xfrm>
          <a:prstGeom prst="rect">
            <a:avLst/>
          </a:prstGeom>
          <a:noFill/>
          <a:ln/>
        </p:spPr>
        <p:txBody>
          <a:bodyPr wrap="square" rtlCol="0" anchor="t"/>
          <a:lstStyle/>
          <a:p>
            <a:pPr indent="0" marL="0">
              <a:lnSpc>
                <a:spcPct val="130000"/>
              </a:lnSpc>
              <a:buNone/>
            </a:pPr>
            <a:r>
              <a:rPr lang="en-US" sz="1350" dirty="0">
                <a:solidFill>
                  <a:srgbClr val="AFC3DD"/>
                </a:solidFill>
                <a:latin typeface="Calibri" pitchFamily="34" charset="0"/>
                <a:ea typeface="Calibri" pitchFamily="34" charset="-122"/>
                <a:cs typeface="Calibri" pitchFamily="34" charset="-120"/>
              </a:rPr>
              <a:t>Startup investment has exploded over the last decade, attracting billions of dollars across thousands of companies. Yet the data describing that activity is scattered across funding announcements, investor records, and exit filings.</a:t>
            </a:r>
            <a:endParaRPr lang="en-US" sz="1350" dirty="0"/>
          </a:p>
          <a:p>
            <a:pPr indent="0" marL="0">
              <a:lnSpc>
                <a:spcPct val="130000"/>
              </a:lnSpc>
              <a:buNone/>
            </a:pPr>
            <a:endParaRPr lang="en-US" sz="1350" dirty="0"/>
          </a:p>
          <a:p>
            <a:pPr indent="0" marL="0">
              <a:lnSpc>
                <a:spcPct val="130000"/>
              </a:lnSpc>
              <a:buNone/>
            </a:pPr>
            <a:r>
              <a:rPr lang="en-US" sz="1350" dirty="0">
                <a:solidFill>
                  <a:srgbClr val="AFC3DD"/>
                </a:solidFill>
                <a:latin typeface="Calibri" pitchFamily="34" charset="0"/>
                <a:ea typeface="Calibri" pitchFamily="34" charset="-122"/>
                <a:cs typeface="Calibri" pitchFamily="34" charset="-120"/>
              </a:rPr>
              <a:t>Stakeholders are often left guessing which sectors are genuinely growing, which regions are pulling in capital, and how startups actually perform once funded — making it hard to evaluate opportunities or make informed decisions.</a:t>
            </a:r>
            <a:endParaRPr lang="en-US" sz="1350" dirty="0"/>
          </a:p>
        </p:txBody>
      </p:sp>
      <p:sp>
        <p:nvSpPr>
          <p:cNvPr id="8" name="Text 5"/>
          <p:cNvSpPr/>
          <p:nvPr/>
        </p:nvSpPr>
        <p:spPr>
          <a:xfrm>
            <a:off x="6263640" y="1371600"/>
            <a:ext cx="5303520" cy="457200"/>
          </a:xfrm>
          <a:prstGeom prst="rect">
            <a:avLst/>
          </a:prstGeom>
          <a:noFill/>
          <a:ln/>
        </p:spPr>
        <p:txBody>
          <a:bodyPr wrap="square" lIns="0" tIns="0" rIns="0" bIns="0" rtlCol="0" anchor="ctr"/>
          <a:lstStyle/>
          <a:p>
            <a:pPr indent="0" marL="0">
              <a:buNone/>
            </a:pPr>
            <a:r>
              <a:rPr lang="en-US" sz="1800" b="1" dirty="0">
                <a:solidFill>
                  <a:srgbClr val="0B1E3D"/>
                </a:solidFill>
                <a:latin typeface="Cambria" pitchFamily="34" charset="0"/>
                <a:ea typeface="Cambria" pitchFamily="34" charset="-122"/>
                <a:cs typeface="Cambria" pitchFamily="34" charset="-120"/>
              </a:rPr>
              <a:t>Project Objectives</a:t>
            </a:r>
            <a:endParaRPr lang="en-US" sz="1800" dirty="0"/>
          </a:p>
        </p:txBody>
      </p:sp>
      <p:sp>
        <p:nvSpPr>
          <p:cNvPr id="9" name="Shape 6"/>
          <p:cNvSpPr/>
          <p:nvPr/>
        </p:nvSpPr>
        <p:spPr>
          <a:xfrm>
            <a:off x="6263640" y="1965960"/>
            <a:ext cx="420624" cy="420624"/>
          </a:xfrm>
          <a:prstGeom prst="ellipse">
            <a:avLst/>
          </a:prstGeom>
          <a:solidFill>
            <a:srgbClr val="C99A3E"/>
          </a:solidFill>
          <a:ln/>
        </p:spPr>
      </p:sp>
      <p:sp>
        <p:nvSpPr>
          <p:cNvPr id="10" name="Text 7"/>
          <p:cNvSpPr/>
          <p:nvPr/>
        </p:nvSpPr>
        <p:spPr>
          <a:xfrm>
            <a:off x="6263640" y="1965960"/>
            <a:ext cx="420624" cy="420624"/>
          </a:xfrm>
          <a:prstGeom prst="rect">
            <a:avLst/>
          </a:prstGeom>
          <a:noFill/>
          <a:ln/>
        </p:spPr>
        <p:txBody>
          <a:bodyPr wrap="square" lIns="0" tIns="0" rIns="0" bIns="0" rtlCol="0" anchor="ctr"/>
          <a:lstStyle/>
          <a:p>
            <a:pPr algn="ctr" indent="0" marL="0">
              <a:buNone/>
            </a:pPr>
            <a:r>
              <a:rPr lang="en-US" sz="1600" b="1" dirty="0">
                <a:solidFill>
                  <a:srgbClr val="0B1E3D"/>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6858000" y="1929384"/>
            <a:ext cx="4709160" cy="640080"/>
          </a:xfrm>
          <a:prstGeom prst="rect">
            <a:avLst/>
          </a:prstGeom>
          <a:noFill/>
          <a:ln/>
        </p:spPr>
        <p:txBody>
          <a:bodyPr wrap="square" rtlCol="0" anchor="ctr"/>
          <a:lstStyle/>
          <a:p>
            <a:pPr indent="0" marL="0">
              <a:lnSpc>
                <a:spcPct val="115000"/>
              </a:lnSpc>
              <a:buNone/>
            </a:pPr>
            <a:r>
              <a:rPr lang="en-US" sz="1350" dirty="0">
                <a:solidFill>
                  <a:srgbClr val="1B2436"/>
                </a:solidFill>
                <a:latin typeface="Calibri" pitchFamily="34" charset="0"/>
                <a:ea typeface="Calibri" pitchFamily="34" charset="-122"/>
                <a:cs typeface="Calibri" pitchFamily="34" charset="-120"/>
              </a:rPr>
              <a:t>Analyze startup funding and investment activity across industries</a:t>
            </a:r>
            <a:endParaRPr lang="en-US" sz="1350" dirty="0"/>
          </a:p>
        </p:txBody>
      </p:sp>
      <p:sp>
        <p:nvSpPr>
          <p:cNvPr id="12" name="Shape 9"/>
          <p:cNvSpPr/>
          <p:nvPr/>
        </p:nvSpPr>
        <p:spPr>
          <a:xfrm>
            <a:off x="6263640" y="2807208"/>
            <a:ext cx="420624" cy="420624"/>
          </a:xfrm>
          <a:prstGeom prst="ellipse">
            <a:avLst/>
          </a:prstGeom>
          <a:solidFill>
            <a:srgbClr val="C99A3E"/>
          </a:solidFill>
          <a:ln/>
        </p:spPr>
      </p:sp>
      <p:sp>
        <p:nvSpPr>
          <p:cNvPr id="13" name="Text 10"/>
          <p:cNvSpPr/>
          <p:nvPr/>
        </p:nvSpPr>
        <p:spPr>
          <a:xfrm>
            <a:off x="6263640" y="2807208"/>
            <a:ext cx="420624" cy="420624"/>
          </a:xfrm>
          <a:prstGeom prst="rect">
            <a:avLst/>
          </a:prstGeom>
          <a:noFill/>
          <a:ln/>
        </p:spPr>
        <p:txBody>
          <a:bodyPr wrap="square" lIns="0" tIns="0" rIns="0" bIns="0" rtlCol="0" anchor="ctr"/>
          <a:lstStyle/>
          <a:p>
            <a:pPr algn="ctr" indent="0" marL="0">
              <a:buNone/>
            </a:pPr>
            <a:r>
              <a:rPr lang="en-US" sz="1600" b="1" dirty="0">
                <a:solidFill>
                  <a:srgbClr val="0B1E3D"/>
                </a:solidFill>
                <a:latin typeface="Cambria" pitchFamily="34" charset="0"/>
                <a:ea typeface="Cambria" pitchFamily="34" charset="-122"/>
                <a:cs typeface="Cambria" pitchFamily="34" charset="-120"/>
              </a:rPr>
              <a:t>2</a:t>
            </a:r>
            <a:endParaRPr lang="en-US" sz="1600" dirty="0"/>
          </a:p>
        </p:txBody>
      </p:sp>
      <p:sp>
        <p:nvSpPr>
          <p:cNvPr id="14" name="Text 11"/>
          <p:cNvSpPr/>
          <p:nvPr/>
        </p:nvSpPr>
        <p:spPr>
          <a:xfrm>
            <a:off x="6858000" y="2770632"/>
            <a:ext cx="4709160" cy="640080"/>
          </a:xfrm>
          <a:prstGeom prst="rect">
            <a:avLst/>
          </a:prstGeom>
          <a:noFill/>
          <a:ln/>
        </p:spPr>
        <p:txBody>
          <a:bodyPr wrap="square" rtlCol="0" anchor="ctr"/>
          <a:lstStyle/>
          <a:p>
            <a:pPr indent="0" marL="0">
              <a:lnSpc>
                <a:spcPct val="115000"/>
              </a:lnSpc>
              <a:buNone/>
            </a:pPr>
            <a:r>
              <a:rPr lang="en-US" sz="1350" dirty="0">
                <a:solidFill>
                  <a:srgbClr val="1B2436"/>
                </a:solidFill>
                <a:latin typeface="Calibri" pitchFamily="34" charset="0"/>
                <a:ea typeface="Calibri" pitchFamily="34" charset="-122"/>
                <a:cs typeface="Calibri" pitchFamily="34" charset="-120"/>
              </a:rPr>
              <a:t>Identify top-performing sectors and regions</a:t>
            </a:r>
            <a:endParaRPr lang="en-US" sz="1350" dirty="0"/>
          </a:p>
        </p:txBody>
      </p:sp>
      <p:sp>
        <p:nvSpPr>
          <p:cNvPr id="15" name="Shape 12"/>
          <p:cNvSpPr/>
          <p:nvPr/>
        </p:nvSpPr>
        <p:spPr>
          <a:xfrm>
            <a:off x="6263640" y="3648456"/>
            <a:ext cx="420624" cy="420624"/>
          </a:xfrm>
          <a:prstGeom prst="ellipse">
            <a:avLst/>
          </a:prstGeom>
          <a:solidFill>
            <a:srgbClr val="C99A3E"/>
          </a:solidFill>
          <a:ln/>
        </p:spPr>
      </p:sp>
      <p:sp>
        <p:nvSpPr>
          <p:cNvPr id="16" name="Text 13"/>
          <p:cNvSpPr/>
          <p:nvPr/>
        </p:nvSpPr>
        <p:spPr>
          <a:xfrm>
            <a:off x="6263640" y="3648456"/>
            <a:ext cx="420624" cy="420624"/>
          </a:xfrm>
          <a:prstGeom prst="rect">
            <a:avLst/>
          </a:prstGeom>
          <a:noFill/>
          <a:ln/>
        </p:spPr>
        <p:txBody>
          <a:bodyPr wrap="square" lIns="0" tIns="0" rIns="0" bIns="0" rtlCol="0" anchor="ctr"/>
          <a:lstStyle/>
          <a:p>
            <a:pPr algn="ctr" indent="0" marL="0">
              <a:buNone/>
            </a:pPr>
            <a:r>
              <a:rPr lang="en-US" sz="1600" b="1" dirty="0">
                <a:solidFill>
                  <a:srgbClr val="0B1E3D"/>
                </a:solidFill>
                <a:latin typeface="Cambria" pitchFamily="34" charset="0"/>
                <a:ea typeface="Cambria" pitchFamily="34" charset="-122"/>
                <a:cs typeface="Cambria" pitchFamily="34" charset="-120"/>
              </a:rPr>
              <a:t>3</a:t>
            </a:r>
            <a:endParaRPr lang="en-US" sz="1600" dirty="0"/>
          </a:p>
        </p:txBody>
      </p:sp>
      <p:sp>
        <p:nvSpPr>
          <p:cNvPr id="17" name="Text 14"/>
          <p:cNvSpPr/>
          <p:nvPr/>
        </p:nvSpPr>
        <p:spPr>
          <a:xfrm>
            <a:off x="6858000" y="3611880"/>
            <a:ext cx="4709160" cy="640080"/>
          </a:xfrm>
          <a:prstGeom prst="rect">
            <a:avLst/>
          </a:prstGeom>
          <a:noFill/>
          <a:ln/>
        </p:spPr>
        <p:txBody>
          <a:bodyPr wrap="square" rtlCol="0" anchor="ctr"/>
          <a:lstStyle/>
          <a:p>
            <a:pPr indent="0" marL="0">
              <a:lnSpc>
                <a:spcPct val="115000"/>
              </a:lnSpc>
              <a:buNone/>
            </a:pPr>
            <a:r>
              <a:rPr lang="en-US" sz="1350" dirty="0">
                <a:solidFill>
                  <a:srgbClr val="1B2436"/>
                </a:solidFill>
                <a:latin typeface="Calibri" pitchFamily="34" charset="0"/>
                <a:ea typeface="Calibri" pitchFamily="34" charset="-122"/>
                <a:cs typeface="Calibri" pitchFamily="34" charset="-120"/>
              </a:rPr>
              <a:t>Understand venture capital investment behavior</a:t>
            </a:r>
            <a:endParaRPr lang="en-US" sz="1350" dirty="0"/>
          </a:p>
        </p:txBody>
      </p:sp>
      <p:sp>
        <p:nvSpPr>
          <p:cNvPr id="18" name="Shape 15"/>
          <p:cNvSpPr/>
          <p:nvPr/>
        </p:nvSpPr>
        <p:spPr>
          <a:xfrm>
            <a:off x="6263640" y="4489704"/>
            <a:ext cx="420624" cy="420624"/>
          </a:xfrm>
          <a:prstGeom prst="ellipse">
            <a:avLst/>
          </a:prstGeom>
          <a:solidFill>
            <a:srgbClr val="C99A3E"/>
          </a:solidFill>
          <a:ln/>
        </p:spPr>
      </p:sp>
      <p:sp>
        <p:nvSpPr>
          <p:cNvPr id="19" name="Text 16"/>
          <p:cNvSpPr/>
          <p:nvPr/>
        </p:nvSpPr>
        <p:spPr>
          <a:xfrm>
            <a:off x="6263640" y="4489704"/>
            <a:ext cx="420624" cy="420624"/>
          </a:xfrm>
          <a:prstGeom prst="rect">
            <a:avLst/>
          </a:prstGeom>
          <a:noFill/>
          <a:ln/>
        </p:spPr>
        <p:txBody>
          <a:bodyPr wrap="square" lIns="0" tIns="0" rIns="0" bIns="0" rtlCol="0" anchor="ctr"/>
          <a:lstStyle/>
          <a:p>
            <a:pPr algn="ctr" indent="0" marL="0">
              <a:buNone/>
            </a:pPr>
            <a:r>
              <a:rPr lang="en-US" sz="1600" b="1" dirty="0">
                <a:solidFill>
                  <a:srgbClr val="0B1E3D"/>
                </a:solidFill>
                <a:latin typeface="Cambria" pitchFamily="34" charset="0"/>
                <a:ea typeface="Cambria" pitchFamily="34" charset="-122"/>
                <a:cs typeface="Cambria" pitchFamily="34" charset="-120"/>
              </a:rPr>
              <a:t>4</a:t>
            </a:r>
            <a:endParaRPr lang="en-US" sz="1600" dirty="0"/>
          </a:p>
        </p:txBody>
      </p:sp>
      <p:sp>
        <p:nvSpPr>
          <p:cNvPr id="20" name="Text 17"/>
          <p:cNvSpPr/>
          <p:nvPr/>
        </p:nvSpPr>
        <p:spPr>
          <a:xfrm>
            <a:off x="6858000" y="4453128"/>
            <a:ext cx="4709160" cy="640080"/>
          </a:xfrm>
          <a:prstGeom prst="rect">
            <a:avLst/>
          </a:prstGeom>
          <a:noFill/>
          <a:ln/>
        </p:spPr>
        <p:txBody>
          <a:bodyPr wrap="square" rtlCol="0" anchor="ctr"/>
          <a:lstStyle/>
          <a:p>
            <a:pPr indent="0" marL="0">
              <a:lnSpc>
                <a:spcPct val="115000"/>
              </a:lnSpc>
              <a:buNone/>
            </a:pPr>
            <a:r>
              <a:rPr lang="en-US" sz="1350" dirty="0">
                <a:solidFill>
                  <a:srgbClr val="1B2436"/>
                </a:solidFill>
                <a:latin typeface="Calibri" pitchFamily="34" charset="0"/>
                <a:ea typeface="Calibri" pitchFamily="34" charset="-122"/>
                <a:cs typeface="Calibri" pitchFamily="34" charset="-120"/>
              </a:rPr>
              <a:t>Evaluate startup exits through acquisitions and IPOs</a:t>
            </a:r>
            <a:endParaRPr lang="en-US" sz="1350" dirty="0"/>
          </a:p>
        </p:txBody>
      </p:sp>
      <p:sp>
        <p:nvSpPr>
          <p:cNvPr id="21" name="Shape 18"/>
          <p:cNvSpPr/>
          <p:nvPr/>
        </p:nvSpPr>
        <p:spPr>
          <a:xfrm>
            <a:off x="6263640" y="5330952"/>
            <a:ext cx="420624" cy="420624"/>
          </a:xfrm>
          <a:prstGeom prst="ellipse">
            <a:avLst/>
          </a:prstGeom>
          <a:solidFill>
            <a:srgbClr val="C99A3E"/>
          </a:solidFill>
          <a:ln/>
        </p:spPr>
      </p:sp>
      <p:sp>
        <p:nvSpPr>
          <p:cNvPr id="22" name="Text 19"/>
          <p:cNvSpPr/>
          <p:nvPr/>
        </p:nvSpPr>
        <p:spPr>
          <a:xfrm>
            <a:off x="6263640" y="5330952"/>
            <a:ext cx="420624" cy="420624"/>
          </a:xfrm>
          <a:prstGeom prst="rect">
            <a:avLst/>
          </a:prstGeom>
          <a:noFill/>
          <a:ln/>
        </p:spPr>
        <p:txBody>
          <a:bodyPr wrap="square" lIns="0" tIns="0" rIns="0" bIns="0" rtlCol="0" anchor="ctr"/>
          <a:lstStyle/>
          <a:p>
            <a:pPr algn="ctr" indent="0" marL="0">
              <a:buNone/>
            </a:pPr>
            <a:r>
              <a:rPr lang="en-US" sz="1600" b="1" dirty="0">
                <a:solidFill>
                  <a:srgbClr val="0B1E3D"/>
                </a:solidFill>
                <a:latin typeface="Cambria" pitchFamily="34" charset="0"/>
                <a:ea typeface="Cambria" pitchFamily="34" charset="-122"/>
                <a:cs typeface="Cambria" pitchFamily="34" charset="-120"/>
              </a:rPr>
              <a:t>5</a:t>
            </a:r>
            <a:endParaRPr lang="en-US" sz="1600" dirty="0"/>
          </a:p>
        </p:txBody>
      </p:sp>
      <p:sp>
        <p:nvSpPr>
          <p:cNvPr id="23" name="Text 20"/>
          <p:cNvSpPr/>
          <p:nvPr/>
        </p:nvSpPr>
        <p:spPr>
          <a:xfrm>
            <a:off x="6858000" y="5294376"/>
            <a:ext cx="4709160" cy="640080"/>
          </a:xfrm>
          <a:prstGeom prst="rect">
            <a:avLst/>
          </a:prstGeom>
          <a:noFill/>
          <a:ln/>
        </p:spPr>
        <p:txBody>
          <a:bodyPr wrap="square" rtlCol="0" anchor="ctr"/>
          <a:lstStyle/>
          <a:p>
            <a:pPr indent="0" marL="0">
              <a:lnSpc>
                <a:spcPct val="115000"/>
              </a:lnSpc>
              <a:buNone/>
            </a:pPr>
            <a:r>
              <a:rPr lang="en-US" sz="1350" dirty="0">
                <a:solidFill>
                  <a:srgbClr val="1B2436"/>
                </a:solidFill>
                <a:latin typeface="Calibri" pitchFamily="34" charset="0"/>
                <a:ea typeface="Calibri" pitchFamily="34" charset="-122"/>
                <a:cs typeface="Calibri" pitchFamily="34" charset="-120"/>
              </a:rPr>
              <a:t>Build an interactive intelligence platform using Power BI</a:t>
            </a:r>
            <a:endParaRPr lang="en-US" sz="1350" dirty="0"/>
          </a:p>
        </p:txBody>
      </p:sp>
      <p:sp>
        <p:nvSpPr>
          <p:cNvPr id="24" name="Text 21"/>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65718A"/>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25" name="Text 22"/>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65718A"/>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200" b="1" dirty="0">
                <a:solidFill>
                  <a:srgbClr val="0B1E3D"/>
                </a:solidFill>
                <a:latin typeface="Cambria" pitchFamily="34" charset="0"/>
                <a:ea typeface="Cambria" pitchFamily="34" charset="-122"/>
                <a:cs typeface="Cambria" pitchFamily="34" charset="-120"/>
              </a:rPr>
              <a:t>Data Sources &amp; Scope</a:t>
            </a:r>
            <a:endParaRPr lang="en-US" sz="3200" dirty="0"/>
          </a:p>
        </p:txBody>
      </p:sp>
      <p:sp>
        <p:nvSpPr>
          <p:cNvPr id="3" name="Text 1"/>
          <p:cNvSpPr/>
          <p:nvPr/>
        </p:nvSpPr>
        <p:spPr>
          <a:xfrm>
            <a:off x="640080" y="1024128"/>
            <a:ext cx="10058400" cy="365760"/>
          </a:xfrm>
          <a:prstGeom prst="rect">
            <a:avLst/>
          </a:prstGeom>
          <a:noFill/>
          <a:ln/>
        </p:spPr>
        <p:txBody>
          <a:bodyPr wrap="square" rtlCol="0" anchor="ctr"/>
          <a:lstStyle/>
          <a:p>
            <a:pPr indent="0" marL="0">
              <a:buNone/>
            </a:pPr>
            <a:r>
              <a:rPr lang="en-US" sz="1300" i="1" dirty="0">
                <a:solidFill>
                  <a:srgbClr val="65718A"/>
                </a:solidFill>
                <a:latin typeface="Calibri" pitchFamily="34" charset="0"/>
                <a:ea typeface="Calibri" pitchFamily="34" charset="-122"/>
                <a:cs typeface="Calibri" pitchFamily="34" charset="-120"/>
              </a:rPr>
              <a:t>Crunchbase Startup Investments dataset — five linked tables covering the full startup lifecycle</a:t>
            </a:r>
            <a:endParaRPr lang="en-US" sz="1300" dirty="0"/>
          </a:p>
        </p:txBody>
      </p:sp>
      <p:sp>
        <p:nvSpPr>
          <p:cNvPr id="4" name="Shape 2"/>
          <p:cNvSpPr/>
          <p:nvPr/>
        </p:nvSpPr>
        <p:spPr>
          <a:xfrm>
            <a:off x="640080" y="1600200"/>
            <a:ext cx="10927080" cy="713232"/>
          </a:xfrm>
          <a:prstGeom prst="roundRect">
            <a:avLst>
              <a:gd name="adj" fmla="val 8974"/>
            </a:avLst>
          </a:prstGeom>
          <a:solidFill>
            <a:srgbClr val="FFFFFF"/>
          </a:solidFill>
          <a:ln/>
          <a:effectLst>
            <a:outerShdw sx="100000" sy="100000" kx="0" ky="0" algn="bl" rotWithShape="0" blurRad="101600" dist="38100" dir="2700000">
              <a:srgbClr val="0B1E3D">
                <a:alpha val="18000"/>
              </a:srgbClr>
            </a:outerShdw>
          </a:effectLst>
        </p:spPr>
      </p:sp>
      <p:sp>
        <p:nvSpPr>
          <p:cNvPr id="5" name="Shape 3"/>
          <p:cNvSpPr/>
          <p:nvPr/>
        </p:nvSpPr>
        <p:spPr>
          <a:xfrm>
            <a:off x="868680" y="1673352"/>
            <a:ext cx="566928" cy="566928"/>
          </a:xfrm>
          <a:prstGeom prst="ellipse">
            <a:avLst/>
          </a:prstGeom>
          <a:solidFill>
            <a:srgbClr val="132A4F"/>
          </a:solidFill>
          <a:ln/>
        </p:spPr>
      </p:sp>
      <p:pic>
        <p:nvPicPr>
          <p:cNvPr id="6" name="Image 0" descr="preencoded.png">    </p:cNvPr>
          <p:cNvPicPr>
            <a:picLocks noChangeAspect="1"/>
          </p:cNvPicPr>
          <p:nvPr/>
        </p:nvPicPr>
        <p:blipFill>
          <a:blip r:embed="rId1"/>
          <a:stretch>
            <a:fillRect/>
          </a:stretch>
        </p:blipFill>
        <p:spPr>
          <a:xfrm>
            <a:off x="923544" y="1728216"/>
            <a:ext cx="457200" cy="457200"/>
          </a:xfrm>
          <a:prstGeom prst="rect">
            <a:avLst/>
          </a:prstGeom>
        </p:spPr>
      </p:pic>
      <p:sp>
        <p:nvSpPr>
          <p:cNvPr id="7" name="Text 4"/>
          <p:cNvSpPr/>
          <p:nvPr/>
        </p:nvSpPr>
        <p:spPr>
          <a:xfrm>
            <a:off x="1691640" y="1600200"/>
            <a:ext cx="2743200" cy="713232"/>
          </a:xfrm>
          <a:prstGeom prst="rect">
            <a:avLst/>
          </a:prstGeom>
          <a:noFill/>
          <a:ln/>
        </p:spPr>
        <p:txBody>
          <a:bodyPr wrap="square" lIns="0" tIns="0" rIns="0" bIns="0" rtlCol="0" anchor="ctr"/>
          <a:lstStyle/>
          <a:p>
            <a:pPr indent="0" marL="0">
              <a:buNone/>
            </a:pPr>
            <a:r>
              <a:rPr lang="en-US" sz="1450" b="1" dirty="0">
                <a:solidFill>
                  <a:srgbClr val="0B1E3D"/>
                </a:solidFill>
                <a:latin typeface="Calibri" pitchFamily="34" charset="0"/>
                <a:ea typeface="Calibri" pitchFamily="34" charset="-122"/>
                <a:cs typeface="Calibri" pitchFamily="34" charset="-120"/>
              </a:rPr>
              <a:t>objects.csv</a:t>
            </a:r>
            <a:endParaRPr lang="en-US" sz="1450" dirty="0"/>
          </a:p>
        </p:txBody>
      </p:sp>
      <p:sp>
        <p:nvSpPr>
          <p:cNvPr id="8" name="Text 5"/>
          <p:cNvSpPr/>
          <p:nvPr/>
        </p:nvSpPr>
        <p:spPr>
          <a:xfrm>
            <a:off x="4572000" y="1600200"/>
            <a:ext cx="4480560" cy="713232"/>
          </a:xfrm>
          <a:prstGeom prst="rect">
            <a:avLst/>
          </a:prstGeom>
          <a:noFill/>
          <a:ln/>
        </p:spPr>
        <p:txBody>
          <a:bodyPr wrap="square" lIns="0" tIns="0" rIns="0" bIns="0" rtlCol="0" anchor="ctr"/>
          <a:lstStyle/>
          <a:p>
            <a:pPr indent="0" marL="0">
              <a:buNone/>
            </a:pPr>
            <a:r>
              <a:rPr lang="en-US" sz="1300" dirty="0">
                <a:solidFill>
                  <a:srgbClr val="1B2436"/>
                </a:solidFill>
                <a:latin typeface="Calibri" pitchFamily="34" charset="0"/>
                <a:ea typeface="Calibri" pitchFamily="34" charset="-122"/>
                <a:cs typeface="Calibri" pitchFamily="34" charset="-120"/>
              </a:rPr>
              <a:t>Startup &amp; company profiles</a:t>
            </a:r>
            <a:endParaRPr lang="en-US" sz="1300" dirty="0"/>
          </a:p>
        </p:txBody>
      </p:sp>
      <p:sp>
        <p:nvSpPr>
          <p:cNvPr id="9" name="Text 6"/>
          <p:cNvSpPr/>
          <p:nvPr/>
        </p:nvSpPr>
        <p:spPr>
          <a:xfrm>
            <a:off x="9144000" y="1600200"/>
            <a:ext cx="2286000" cy="713232"/>
          </a:xfrm>
          <a:prstGeom prst="rect">
            <a:avLst/>
          </a:prstGeom>
          <a:noFill/>
          <a:ln/>
        </p:spPr>
        <p:txBody>
          <a:bodyPr wrap="square" lIns="0" tIns="0" rIns="0" bIns="0" rtlCol="0" anchor="ctr"/>
          <a:lstStyle/>
          <a:p>
            <a:pPr algn="r" indent="0" marL="0">
              <a:buNone/>
            </a:pPr>
            <a:r>
              <a:rPr lang="en-US" sz="1350" b="1" dirty="0">
                <a:solidFill>
                  <a:srgbClr val="C99A3E"/>
                </a:solidFill>
                <a:latin typeface="Calibri" pitchFamily="34" charset="0"/>
                <a:ea typeface="Calibri" pitchFamily="34" charset="-122"/>
                <a:cs typeface="Calibri" pitchFamily="34" charset="-120"/>
              </a:rPr>
              <a:t>196,553 companies</a:t>
            </a:r>
            <a:endParaRPr lang="en-US" sz="1350" dirty="0"/>
          </a:p>
        </p:txBody>
      </p:sp>
      <p:sp>
        <p:nvSpPr>
          <p:cNvPr id="10" name="Shape 7"/>
          <p:cNvSpPr/>
          <p:nvPr/>
        </p:nvSpPr>
        <p:spPr>
          <a:xfrm>
            <a:off x="640080" y="2441448"/>
            <a:ext cx="10927080" cy="713232"/>
          </a:xfrm>
          <a:prstGeom prst="roundRect">
            <a:avLst>
              <a:gd name="adj" fmla="val 8974"/>
            </a:avLst>
          </a:prstGeom>
          <a:solidFill>
            <a:srgbClr val="FFFFFF"/>
          </a:solidFill>
          <a:ln/>
          <a:effectLst>
            <a:outerShdw sx="100000" sy="100000" kx="0" ky="0" algn="bl" rotWithShape="0" blurRad="101600" dist="38100" dir="2700000">
              <a:srgbClr val="0B1E3D">
                <a:alpha val="18000"/>
              </a:srgbClr>
            </a:outerShdw>
          </a:effectLst>
        </p:spPr>
      </p:sp>
      <p:sp>
        <p:nvSpPr>
          <p:cNvPr id="11" name="Shape 8"/>
          <p:cNvSpPr/>
          <p:nvPr/>
        </p:nvSpPr>
        <p:spPr>
          <a:xfrm>
            <a:off x="868680" y="2514600"/>
            <a:ext cx="566928" cy="566928"/>
          </a:xfrm>
          <a:prstGeom prst="ellipse">
            <a:avLst/>
          </a:prstGeom>
          <a:solidFill>
            <a:srgbClr val="132A4F"/>
          </a:solidFill>
          <a:ln/>
        </p:spPr>
      </p:sp>
      <p:pic>
        <p:nvPicPr>
          <p:cNvPr id="12" name="Image 1" descr="preencoded.png">    </p:cNvPr>
          <p:cNvPicPr>
            <a:picLocks noChangeAspect="1"/>
          </p:cNvPicPr>
          <p:nvPr/>
        </p:nvPicPr>
        <p:blipFill>
          <a:blip r:embed="rId2"/>
          <a:stretch>
            <a:fillRect/>
          </a:stretch>
        </p:blipFill>
        <p:spPr>
          <a:xfrm>
            <a:off x="923544" y="2569464"/>
            <a:ext cx="457200" cy="457200"/>
          </a:xfrm>
          <a:prstGeom prst="rect">
            <a:avLst/>
          </a:prstGeom>
        </p:spPr>
      </p:pic>
      <p:sp>
        <p:nvSpPr>
          <p:cNvPr id="13" name="Text 9"/>
          <p:cNvSpPr/>
          <p:nvPr/>
        </p:nvSpPr>
        <p:spPr>
          <a:xfrm>
            <a:off x="1691640" y="2441448"/>
            <a:ext cx="2743200" cy="713232"/>
          </a:xfrm>
          <a:prstGeom prst="rect">
            <a:avLst/>
          </a:prstGeom>
          <a:noFill/>
          <a:ln/>
        </p:spPr>
        <p:txBody>
          <a:bodyPr wrap="square" lIns="0" tIns="0" rIns="0" bIns="0" rtlCol="0" anchor="ctr"/>
          <a:lstStyle/>
          <a:p>
            <a:pPr indent="0" marL="0">
              <a:buNone/>
            </a:pPr>
            <a:r>
              <a:rPr lang="en-US" sz="1450" b="1" dirty="0">
                <a:solidFill>
                  <a:srgbClr val="0B1E3D"/>
                </a:solidFill>
                <a:latin typeface="Calibri" pitchFamily="34" charset="0"/>
                <a:ea typeface="Calibri" pitchFamily="34" charset="-122"/>
                <a:cs typeface="Calibri" pitchFamily="34" charset="-120"/>
              </a:rPr>
              <a:t>funding_rounds.csv</a:t>
            </a:r>
            <a:endParaRPr lang="en-US" sz="1450" dirty="0"/>
          </a:p>
        </p:txBody>
      </p:sp>
      <p:sp>
        <p:nvSpPr>
          <p:cNvPr id="14" name="Text 10"/>
          <p:cNvSpPr/>
          <p:nvPr/>
        </p:nvSpPr>
        <p:spPr>
          <a:xfrm>
            <a:off x="4572000" y="2441448"/>
            <a:ext cx="4480560" cy="713232"/>
          </a:xfrm>
          <a:prstGeom prst="rect">
            <a:avLst/>
          </a:prstGeom>
          <a:noFill/>
          <a:ln/>
        </p:spPr>
        <p:txBody>
          <a:bodyPr wrap="square" lIns="0" tIns="0" rIns="0" bIns="0" rtlCol="0" anchor="ctr"/>
          <a:lstStyle/>
          <a:p>
            <a:pPr indent="0" marL="0">
              <a:buNone/>
            </a:pPr>
            <a:r>
              <a:rPr lang="en-US" sz="1300" dirty="0">
                <a:solidFill>
                  <a:srgbClr val="1B2436"/>
                </a:solidFill>
                <a:latin typeface="Calibri" pitchFamily="34" charset="0"/>
                <a:ea typeface="Calibri" pitchFamily="34" charset="-122"/>
                <a:cs typeface="Calibri" pitchFamily="34" charset="-120"/>
              </a:rPr>
              <a:t>Funding round details &amp; amounts</a:t>
            </a:r>
            <a:endParaRPr lang="en-US" sz="1300" dirty="0"/>
          </a:p>
        </p:txBody>
      </p:sp>
      <p:sp>
        <p:nvSpPr>
          <p:cNvPr id="15" name="Text 11"/>
          <p:cNvSpPr/>
          <p:nvPr/>
        </p:nvSpPr>
        <p:spPr>
          <a:xfrm>
            <a:off x="9144000" y="2441448"/>
            <a:ext cx="2286000" cy="713232"/>
          </a:xfrm>
          <a:prstGeom prst="rect">
            <a:avLst/>
          </a:prstGeom>
          <a:noFill/>
          <a:ln/>
        </p:spPr>
        <p:txBody>
          <a:bodyPr wrap="square" lIns="0" tIns="0" rIns="0" bIns="0" rtlCol="0" anchor="ctr"/>
          <a:lstStyle/>
          <a:p>
            <a:pPr algn="r" indent="0" marL="0">
              <a:buNone/>
            </a:pPr>
            <a:r>
              <a:rPr lang="en-US" sz="1350" b="1" dirty="0">
                <a:solidFill>
                  <a:srgbClr val="C99A3E"/>
                </a:solidFill>
                <a:latin typeface="Calibri" pitchFamily="34" charset="0"/>
                <a:ea typeface="Calibri" pitchFamily="34" charset="-122"/>
                <a:cs typeface="Calibri" pitchFamily="34" charset="-120"/>
              </a:rPr>
              <a:t>52,928 rounds</a:t>
            </a:r>
            <a:endParaRPr lang="en-US" sz="1350" dirty="0"/>
          </a:p>
        </p:txBody>
      </p:sp>
      <p:sp>
        <p:nvSpPr>
          <p:cNvPr id="16" name="Shape 12"/>
          <p:cNvSpPr/>
          <p:nvPr/>
        </p:nvSpPr>
        <p:spPr>
          <a:xfrm>
            <a:off x="640080" y="3282696"/>
            <a:ext cx="10927080" cy="713232"/>
          </a:xfrm>
          <a:prstGeom prst="roundRect">
            <a:avLst>
              <a:gd name="adj" fmla="val 8974"/>
            </a:avLst>
          </a:prstGeom>
          <a:solidFill>
            <a:srgbClr val="FFFFFF"/>
          </a:solidFill>
          <a:ln/>
          <a:effectLst>
            <a:outerShdw sx="100000" sy="100000" kx="0" ky="0" algn="bl" rotWithShape="0" blurRad="101600" dist="38100" dir="2700000">
              <a:srgbClr val="0B1E3D">
                <a:alpha val="18000"/>
              </a:srgbClr>
            </a:outerShdw>
          </a:effectLst>
        </p:spPr>
      </p:sp>
      <p:sp>
        <p:nvSpPr>
          <p:cNvPr id="17" name="Shape 13"/>
          <p:cNvSpPr/>
          <p:nvPr/>
        </p:nvSpPr>
        <p:spPr>
          <a:xfrm>
            <a:off x="868680" y="3355848"/>
            <a:ext cx="566928" cy="566928"/>
          </a:xfrm>
          <a:prstGeom prst="ellipse">
            <a:avLst/>
          </a:prstGeom>
          <a:solidFill>
            <a:srgbClr val="132A4F"/>
          </a:solidFill>
          <a:ln/>
        </p:spPr>
      </p:sp>
      <p:pic>
        <p:nvPicPr>
          <p:cNvPr id="18" name="Image 2" descr="preencoded.png">    </p:cNvPr>
          <p:cNvPicPr>
            <a:picLocks noChangeAspect="1"/>
          </p:cNvPicPr>
          <p:nvPr/>
        </p:nvPicPr>
        <p:blipFill>
          <a:blip r:embed="rId3"/>
          <a:stretch>
            <a:fillRect/>
          </a:stretch>
        </p:blipFill>
        <p:spPr>
          <a:xfrm>
            <a:off x="923544" y="3410712"/>
            <a:ext cx="457200" cy="457200"/>
          </a:xfrm>
          <a:prstGeom prst="rect">
            <a:avLst/>
          </a:prstGeom>
        </p:spPr>
      </p:pic>
      <p:sp>
        <p:nvSpPr>
          <p:cNvPr id="19" name="Text 14"/>
          <p:cNvSpPr/>
          <p:nvPr/>
        </p:nvSpPr>
        <p:spPr>
          <a:xfrm>
            <a:off x="1691640" y="3282696"/>
            <a:ext cx="2743200" cy="713232"/>
          </a:xfrm>
          <a:prstGeom prst="rect">
            <a:avLst/>
          </a:prstGeom>
          <a:noFill/>
          <a:ln/>
        </p:spPr>
        <p:txBody>
          <a:bodyPr wrap="square" lIns="0" tIns="0" rIns="0" bIns="0" rtlCol="0" anchor="ctr"/>
          <a:lstStyle/>
          <a:p>
            <a:pPr indent="0" marL="0">
              <a:buNone/>
            </a:pPr>
            <a:r>
              <a:rPr lang="en-US" sz="1450" b="1" dirty="0">
                <a:solidFill>
                  <a:srgbClr val="0B1E3D"/>
                </a:solidFill>
                <a:latin typeface="Calibri" pitchFamily="34" charset="0"/>
                <a:ea typeface="Calibri" pitchFamily="34" charset="-122"/>
                <a:cs typeface="Calibri" pitchFamily="34" charset="-120"/>
              </a:rPr>
              <a:t>investments.csv</a:t>
            </a:r>
            <a:endParaRPr lang="en-US" sz="1450" dirty="0"/>
          </a:p>
        </p:txBody>
      </p:sp>
      <p:sp>
        <p:nvSpPr>
          <p:cNvPr id="20" name="Text 15"/>
          <p:cNvSpPr/>
          <p:nvPr/>
        </p:nvSpPr>
        <p:spPr>
          <a:xfrm>
            <a:off x="4572000" y="3282696"/>
            <a:ext cx="4480560" cy="713232"/>
          </a:xfrm>
          <a:prstGeom prst="rect">
            <a:avLst/>
          </a:prstGeom>
          <a:noFill/>
          <a:ln/>
        </p:spPr>
        <p:txBody>
          <a:bodyPr wrap="square" lIns="0" tIns="0" rIns="0" bIns="0" rtlCol="0" anchor="ctr"/>
          <a:lstStyle/>
          <a:p>
            <a:pPr indent="0" marL="0">
              <a:buNone/>
            </a:pPr>
            <a:r>
              <a:rPr lang="en-US" sz="1300" dirty="0">
                <a:solidFill>
                  <a:srgbClr val="1B2436"/>
                </a:solidFill>
                <a:latin typeface="Calibri" pitchFamily="34" charset="0"/>
                <a:ea typeface="Calibri" pitchFamily="34" charset="-122"/>
                <a:cs typeface="Calibri" pitchFamily="34" charset="-120"/>
              </a:rPr>
              <a:t>Investor – startup relationships</a:t>
            </a:r>
            <a:endParaRPr lang="en-US" sz="1300" dirty="0"/>
          </a:p>
        </p:txBody>
      </p:sp>
      <p:sp>
        <p:nvSpPr>
          <p:cNvPr id="21" name="Text 16"/>
          <p:cNvSpPr/>
          <p:nvPr/>
        </p:nvSpPr>
        <p:spPr>
          <a:xfrm>
            <a:off x="9144000" y="3282696"/>
            <a:ext cx="2286000" cy="713232"/>
          </a:xfrm>
          <a:prstGeom prst="rect">
            <a:avLst/>
          </a:prstGeom>
          <a:noFill/>
          <a:ln/>
        </p:spPr>
        <p:txBody>
          <a:bodyPr wrap="square" lIns="0" tIns="0" rIns="0" bIns="0" rtlCol="0" anchor="ctr"/>
          <a:lstStyle/>
          <a:p>
            <a:pPr algn="r" indent="0" marL="0">
              <a:buNone/>
            </a:pPr>
            <a:r>
              <a:rPr lang="en-US" sz="1350" b="1" dirty="0">
                <a:solidFill>
                  <a:srgbClr val="C99A3E"/>
                </a:solidFill>
                <a:latin typeface="Calibri" pitchFamily="34" charset="0"/>
                <a:ea typeface="Calibri" pitchFamily="34" charset="-122"/>
                <a:cs typeface="Calibri" pitchFamily="34" charset="-120"/>
              </a:rPr>
              <a:t>80,903 records</a:t>
            </a:r>
            <a:endParaRPr lang="en-US" sz="1350" dirty="0"/>
          </a:p>
        </p:txBody>
      </p:sp>
      <p:sp>
        <p:nvSpPr>
          <p:cNvPr id="22" name="Shape 17"/>
          <p:cNvSpPr/>
          <p:nvPr/>
        </p:nvSpPr>
        <p:spPr>
          <a:xfrm>
            <a:off x="640080" y="4123944"/>
            <a:ext cx="10927080" cy="713232"/>
          </a:xfrm>
          <a:prstGeom prst="roundRect">
            <a:avLst>
              <a:gd name="adj" fmla="val 8974"/>
            </a:avLst>
          </a:prstGeom>
          <a:solidFill>
            <a:srgbClr val="FFFFFF"/>
          </a:solidFill>
          <a:ln/>
          <a:effectLst>
            <a:outerShdw sx="100000" sy="100000" kx="0" ky="0" algn="bl" rotWithShape="0" blurRad="101600" dist="38100" dir="2700000">
              <a:srgbClr val="0B1E3D">
                <a:alpha val="18000"/>
              </a:srgbClr>
            </a:outerShdw>
          </a:effectLst>
        </p:spPr>
      </p:sp>
      <p:sp>
        <p:nvSpPr>
          <p:cNvPr id="23" name="Shape 18"/>
          <p:cNvSpPr/>
          <p:nvPr/>
        </p:nvSpPr>
        <p:spPr>
          <a:xfrm>
            <a:off x="868680" y="4197096"/>
            <a:ext cx="566928" cy="566928"/>
          </a:xfrm>
          <a:prstGeom prst="ellipse">
            <a:avLst/>
          </a:prstGeom>
          <a:solidFill>
            <a:srgbClr val="132A4F"/>
          </a:solidFill>
          <a:ln/>
        </p:spPr>
      </p:sp>
      <p:pic>
        <p:nvPicPr>
          <p:cNvPr id="24" name="Image 3" descr="preencoded.png">    </p:cNvPr>
          <p:cNvPicPr>
            <a:picLocks noChangeAspect="1"/>
          </p:cNvPicPr>
          <p:nvPr/>
        </p:nvPicPr>
        <p:blipFill>
          <a:blip r:embed="rId4"/>
          <a:stretch>
            <a:fillRect/>
          </a:stretch>
        </p:blipFill>
        <p:spPr>
          <a:xfrm>
            <a:off x="923544" y="4251960"/>
            <a:ext cx="457200" cy="457200"/>
          </a:xfrm>
          <a:prstGeom prst="rect">
            <a:avLst/>
          </a:prstGeom>
        </p:spPr>
      </p:pic>
      <p:sp>
        <p:nvSpPr>
          <p:cNvPr id="25" name="Text 19"/>
          <p:cNvSpPr/>
          <p:nvPr/>
        </p:nvSpPr>
        <p:spPr>
          <a:xfrm>
            <a:off x="1691640" y="4123944"/>
            <a:ext cx="2743200" cy="713232"/>
          </a:xfrm>
          <a:prstGeom prst="rect">
            <a:avLst/>
          </a:prstGeom>
          <a:noFill/>
          <a:ln/>
        </p:spPr>
        <p:txBody>
          <a:bodyPr wrap="square" lIns="0" tIns="0" rIns="0" bIns="0" rtlCol="0" anchor="ctr"/>
          <a:lstStyle/>
          <a:p>
            <a:pPr indent="0" marL="0">
              <a:buNone/>
            </a:pPr>
            <a:r>
              <a:rPr lang="en-US" sz="1450" b="1" dirty="0">
                <a:solidFill>
                  <a:srgbClr val="0B1E3D"/>
                </a:solidFill>
                <a:latin typeface="Calibri" pitchFamily="34" charset="0"/>
                <a:ea typeface="Calibri" pitchFamily="34" charset="-122"/>
                <a:cs typeface="Calibri" pitchFamily="34" charset="-120"/>
              </a:rPr>
              <a:t>acquisitions.csv</a:t>
            </a:r>
            <a:endParaRPr lang="en-US" sz="1450" dirty="0"/>
          </a:p>
        </p:txBody>
      </p:sp>
      <p:sp>
        <p:nvSpPr>
          <p:cNvPr id="26" name="Text 20"/>
          <p:cNvSpPr/>
          <p:nvPr/>
        </p:nvSpPr>
        <p:spPr>
          <a:xfrm>
            <a:off x="4572000" y="4123944"/>
            <a:ext cx="4480560" cy="713232"/>
          </a:xfrm>
          <a:prstGeom prst="rect">
            <a:avLst/>
          </a:prstGeom>
          <a:noFill/>
          <a:ln/>
        </p:spPr>
        <p:txBody>
          <a:bodyPr wrap="square" lIns="0" tIns="0" rIns="0" bIns="0" rtlCol="0" anchor="ctr"/>
          <a:lstStyle/>
          <a:p>
            <a:pPr indent="0" marL="0">
              <a:buNone/>
            </a:pPr>
            <a:r>
              <a:rPr lang="en-US" sz="1300" dirty="0">
                <a:solidFill>
                  <a:srgbClr val="1B2436"/>
                </a:solidFill>
                <a:latin typeface="Calibri" pitchFamily="34" charset="0"/>
                <a:ea typeface="Calibri" pitchFamily="34" charset="-122"/>
                <a:cs typeface="Calibri" pitchFamily="34" charset="-120"/>
              </a:rPr>
              <a:t>Acquisition transactions &amp; exits</a:t>
            </a:r>
            <a:endParaRPr lang="en-US" sz="1300" dirty="0"/>
          </a:p>
        </p:txBody>
      </p:sp>
      <p:sp>
        <p:nvSpPr>
          <p:cNvPr id="27" name="Text 21"/>
          <p:cNvSpPr/>
          <p:nvPr/>
        </p:nvSpPr>
        <p:spPr>
          <a:xfrm>
            <a:off x="9144000" y="4123944"/>
            <a:ext cx="2286000" cy="713232"/>
          </a:xfrm>
          <a:prstGeom prst="rect">
            <a:avLst/>
          </a:prstGeom>
          <a:noFill/>
          <a:ln/>
        </p:spPr>
        <p:txBody>
          <a:bodyPr wrap="square" lIns="0" tIns="0" rIns="0" bIns="0" rtlCol="0" anchor="ctr"/>
          <a:lstStyle/>
          <a:p>
            <a:pPr algn="r" indent="0" marL="0">
              <a:buNone/>
            </a:pPr>
            <a:r>
              <a:rPr lang="en-US" sz="1350" b="1" dirty="0">
                <a:solidFill>
                  <a:srgbClr val="C99A3E"/>
                </a:solidFill>
                <a:latin typeface="Calibri" pitchFamily="34" charset="0"/>
                <a:ea typeface="Calibri" pitchFamily="34" charset="-122"/>
                <a:cs typeface="Calibri" pitchFamily="34" charset="-120"/>
              </a:rPr>
              <a:t>9,562 acquisitions</a:t>
            </a:r>
            <a:endParaRPr lang="en-US" sz="1350" dirty="0"/>
          </a:p>
        </p:txBody>
      </p:sp>
      <p:sp>
        <p:nvSpPr>
          <p:cNvPr id="28" name="Shape 22"/>
          <p:cNvSpPr/>
          <p:nvPr/>
        </p:nvSpPr>
        <p:spPr>
          <a:xfrm>
            <a:off x="640080" y="4965192"/>
            <a:ext cx="10927080" cy="713232"/>
          </a:xfrm>
          <a:prstGeom prst="roundRect">
            <a:avLst>
              <a:gd name="adj" fmla="val 8974"/>
            </a:avLst>
          </a:prstGeom>
          <a:solidFill>
            <a:srgbClr val="FFFFFF"/>
          </a:solidFill>
          <a:ln/>
          <a:effectLst>
            <a:outerShdw sx="100000" sy="100000" kx="0" ky="0" algn="bl" rotWithShape="0" blurRad="101600" dist="38100" dir="2700000">
              <a:srgbClr val="0B1E3D">
                <a:alpha val="18000"/>
              </a:srgbClr>
            </a:outerShdw>
          </a:effectLst>
        </p:spPr>
      </p:sp>
      <p:sp>
        <p:nvSpPr>
          <p:cNvPr id="29" name="Shape 23"/>
          <p:cNvSpPr/>
          <p:nvPr/>
        </p:nvSpPr>
        <p:spPr>
          <a:xfrm>
            <a:off x="868680" y="5038344"/>
            <a:ext cx="566928" cy="566928"/>
          </a:xfrm>
          <a:prstGeom prst="ellipse">
            <a:avLst/>
          </a:prstGeom>
          <a:solidFill>
            <a:srgbClr val="132A4F"/>
          </a:solidFill>
          <a:ln/>
        </p:spPr>
      </p:sp>
      <p:pic>
        <p:nvPicPr>
          <p:cNvPr id="30" name="Image 4" descr="preencoded.png">    </p:cNvPr>
          <p:cNvPicPr>
            <a:picLocks noChangeAspect="1"/>
          </p:cNvPicPr>
          <p:nvPr/>
        </p:nvPicPr>
        <p:blipFill>
          <a:blip r:embed="rId5"/>
          <a:stretch>
            <a:fillRect/>
          </a:stretch>
        </p:blipFill>
        <p:spPr>
          <a:xfrm>
            <a:off x="923544" y="5093208"/>
            <a:ext cx="457200" cy="457200"/>
          </a:xfrm>
          <a:prstGeom prst="rect">
            <a:avLst/>
          </a:prstGeom>
        </p:spPr>
      </p:pic>
      <p:sp>
        <p:nvSpPr>
          <p:cNvPr id="31" name="Text 24"/>
          <p:cNvSpPr/>
          <p:nvPr/>
        </p:nvSpPr>
        <p:spPr>
          <a:xfrm>
            <a:off x="1691640" y="4965192"/>
            <a:ext cx="2743200" cy="713232"/>
          </a:xfrm>
          <a:prstGeom prst="rect">
            <a:avLst/>
          </a:prstGeom>
          <a:noFill/>
          <a:ln/>
        </p:spPr>
        <p:txBody>
          <a:bodyPr wrap="square" lIns="0" tIns="0" rIns="0" bIns="0" rtlCol="0" anchor="ctr"/>
          <a:lstStyle/>
          <a:p>
            <a:pPr indent="0" marL="0">
              <a:buNone/>
            </a:pPr>
            <a:r>
              <a:rPr lang="en-US" sz="1450" b="1" dirty="0">
                <a:solidFill>
                  <a:srgbClr val="0B1E3D"/>
                </a:solidFill>
                <a:latin typeface="Calibri" pitchFamily="34" charset="0"/>
                <a:ea typeface="Calibri" pitchFamily="34" charset="-122"/>
                <a:cs typeface="Calibri" pitchFamily="34" charset="-120"/>
              </a:rPr>
              <a:t>ipos.csv</a:t>
            </a:r>
            <a:endParaRPr lang="en-US" sz="1450" dirty="0"/>
          </a:p>
        </p:txBody>
      </p:sp>
      <p:sp>
        <p:nvSpPr>
          <p:cNvPr id="32" name="Text 25"/>
          <p:cNvSpPr/>
          <p:nvPr/>
        </p:nvSpPr>
        <p:spPr>
          <a:xfrm>
            <a:off x="4572000" y="4965192"/>
            <a:ext cx="4480560" cy="713232"/>
          </a:xfrm>
          <a:prstGeom prst="rect">
            <a:avLst/>
          </a:prstGeom>
          <a:noFill/>
          <a:ln/>
        </p:spPr>
        <p:txBody>
          <a:bodyPr wrap="square" lIns="0" tIns="0" rIns="0" bIns="0" rtlCol="0" anchor="ctr"/>
          <a:lstStyle/>
          <a:p>
            <a:pPr indent="0" marL="0">
              <a:buNone/>
            </a:pPr>
            <a:r>
              <a:rPr lang="en-US" sz="1300" dirty="0">
                <a:solidFill>
                  <a:srgbClr val="1B2436"/>
                </a:solidFill>
                <a:latin typeface="Calibri" pitchFamily="34" charset="0"/>
                <a:ea typeface="Calibri" pitchFamily="34" charset="-122"/>
                <a:cs typeface="Calibri" pitchFamily="34" charset="-120"/>
              </a:rPr>
              <a:t>IPO details &amp; valuations</a:t>
            </a:r>
            <a:endParaRPr lang="en-US" sz="1300" dirty="0"/>
          </a:p>
        </p:txBody>
      </p:sp>
      <p:sp>
        <p:nvSpPr>
          <p:cNvPr id="33" name="Text 26"/>
          <p:cNvSpPr/>
          <p:nvPr/>
        </p:nvSpPr>
        <p:spPr>
          <a:xfrm>
            <a:off x="9144000" y="4965192"/>
            <a:ext cx="2286000" cy="713232"/>
          </a:xfrm>
          <a:prstGeom prst="rect">
            <a:avLst/>
          </a:prstGeom>
          <a:noFill/>
          <a:ln/>
        </p:spPr>
        <p:txBody>
          <a:bodyPr wrap="square" lIns="0" tIns="0" rIns="0" bIns="0" rtlCol="0" anchor="ctr"/>
          <a:lstStyle/>
          <a:p>
            <a:pPr algn="r" indent="0" marL="0">
              <a:buNone/>
            </a:pPr>
            <a:r>
              <a:rPr lang="en-US" sz="1350" b="1" dirty="0">
                <a:solidFill>
                  <a:srgbClr val="C99A3E"/>
                </a:solidFill>
                <a:latin typeface="Calibri" pitchFamily="34" charset="0"/>
                <a:ea typeface="Calibri" pitchFamily="34" charset="-122"/>
                <a:cs typeface="Calibri" pitchFamily="34" charset="-120"/>
              </a:rPr>
              <a:t>1,259 IPOs</a:t>
            </a:r>
            <a:endParaRPr lang="en-US" sz="1350" dirty="0"/>
          </a:p>
        </p:txBody>
      </p:sp>
      <p:sp>
        <p:nvSpPr>
          <p:cNvPr id="34" name="Text 27"/>
          <p:cNvSpPr/>
          <p:nvPr/>
        </p:nvSpPr>
        <p:spPr>
          <a:xfrm>
            <a:off x="640080" y="5879592"/>
            <a:ext cx="10927080" cy="365760"/>
          </a:xfrm>
          <a:prstGeom prst="rect">
            <a:avLst/>
          </a:prstGeom>
          <a:noFill/>
          <a:ln/>
        </p:spPr>
        <p:txBody>
          <a:bodyPr wrap="square" rtlCol="0" anchor="ctr"/>
          <a:lstStyle/>
          <a:p>
            <a:pPr indent="0" marL="0">
              <a:buNone/>
            </a:pPr>
            <a:r>
              <a:rPr lang="en-US" sz="1200" i="1" dirty="0">
                <a:solidFill>
                  <a:srgbClr val="65718A"/>
                </a:solidFill>
                <a:latin typeface="Calibri" pitchFamily="34" charset="0"/>
                <a:ea typeface="Calibri" pitchFamily="34" charset="-122"/>
                <a:cs typeface="Calibri" pitchFamily="34" charset="-120"/>
              </a:rPr>
              <a:t>Coverage spans 175 countries and multiple industries and funding stages — from first investment through acquisition or IPO.</a:t>
            </a:r>
            <a:endParaRPr lang="en-US" sz="1200" dirty="0"/>
          </a:p>
        </p:txBody>
      </p:sp>
      <p:sp>
        <p:nvSpPr>
          <p:cNvPr id="35" name="Text 28"/>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65718A"/>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36" name="Text 29"/>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65718A"/>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lIns="0" tIns="0" rIns="0" bIns="0" rtlCol="0" anchor="ctr"/>
          <a:lstStyle/>
          <a:p>
            <a:pPr indent="0" marL="0">
              <a:buNone/>
            </a:pPr>
            <a:r>
              <a:rPr lang="en-US" sz="3200" b="1" dirty="0">
                <a:solidFill>
                  <a:srgbClr val="0B1E3D"/>
                </a:solidFill>
                <a:latin typeface="Cambria" pitchFamily="34" charset="0"/>
                <a:ea typeface="Cambria" pitchFamily="34" charset="-122"/>
                <a:cs typeface="Cambria" pitchFamily="34" charset="-120"/>
              </a:rPr>
              <a:t>Methodology</a:t>
            </a:r>
            <a:endParaRPr lang="en-US" sz="3200" dirty="0"/>
          </a:p>
        </p:txBody>
      </p:sp>
      <p:sp>
        <p:nvSpPr>
          <p:cNvPr id="3" name="Shape 1"/>
          <p:cNvSpPr/>
          <p:nvPr/>
        </p:nvSpPr>
        <p:spPr>
          <a:xfrm>
            <a:off x="710032" y="1828800"/>
            <a:ext cx="1993392" cy="3291840"/>
          </a:xfrm>
          <a:prstGeom prst="roundRect">
            <a:avLst>
              <a:gd name="adj" fmla="val 4587"/>
            </a:avLst>
          </a:prstGeom>
          <a:solidFill>
            <a:srgbClr val="FFFFFF"/>
          </a:solidFill>
          <a:ln/>
          <a:effectLst>
            <a:outerShdw sx="100000" sy="100000" kx="0" ky="0" algn="bl" rotWithShape="0" blurRad="101600" dist="38100" dir="2700000">
              <a:srgbClr val="0B1E3D">
                <a:alpha val="18000"/>
              </a:srgbClr>
            </a:outerShdw>
          </a:effectLst>
        </p:spPr>
      </p:sp>
      <p:sp>
        <p:nvSpPr>
          <p:cNvPr id="4" name="Shape 2"/>
          <p:cNvSpPr/>
          <p:nvPr/>
        </p:nvSpPr>
        <p:spPr>
          <a:xfrm>
            <a:off x="1340968" y="2103120"/>
            <a:ext cx="731520" cy="731520"/>
          </a:xfrm>
          <a:prstGeom prst="ellipse">
            <a:avLst/>
          </a:prstGeom>
          <a:solidFill>
            <a:srgbClr val="0B1E3D"/>
          </a:solidFill>
          <a:ln/>
        </p:spPr>
      </p:sp>
      <p:pic>
        <p:nvPicPr>
          <p:cNvPr id="5" name="Image 0" descr="preencoded.png">    </p:cNvPr>
          <p:cNvPicPr>
            <a:picLocks noChangeAspect="1"/>
          </p:cNvPicPr>
          <p:nvPr/>
        </p:nvPicPr>
        <p:blipFill>
          <a:blip r:embed="rId1"/>
          <a:stretch>
            <a:fillRect/>
          </a:stretch>
        </p:blipFill>
        <p:spPr>
          <a:xfrm>
            <a:off x="1505560" y="2267712"/>
            <a:ext cx="402336" cy="402336"/>
          </a:xfrm>
          <a:prstGeom prst="rect">
            <a:avLst/>
          </a:prstGeom>
        </p:spPr>
      </p:pic>
      <p:sp>
        <p:nvSpPr>
          <p:cNvPr id="6" name="Text 3"/>
          <p:cNvSpPr/>
          <p:nvPr/>
        </p:nvSpPr>
        <p:spPr>
          <a:xfrm>
            <a:off x="2246224" y="1664208"/>
            <a:ext cx="365760" cy="365760"/>
          </a:xfrm>
          <a:prstGeom prst="rect">
            <a:avLst/>
          </a:prstGeom>
          <a:noFill/>
          <a:ln/>
        </p:spPr>
        <p:txBody>
          <a:bodyPr wrap="square" rtlCol="0" anchor="ctr"/>
          <a:lstStyle/>
          <a:p>
            <a:pPr algn="r" indent="0" marL="0">
              <a:buNone/>
            </a:pPr>
            <a:r>
              <a:rPr lang="en-US" sz="1400" b="1" dirty="0">
                <a:solidFill>
                  <a:srgbClr val="C99A3E"/>
                </a:solidFill>
                <a:latin typeface="Cambria" pitchFamily="34" charset="0"/>
                <a:ea typeface="Cambria" pitchFamily="34" charset="-122"/>
                <a:cs typeface="Cambria" pitchFamily="34" charset="-120"/>
              </a:rPr>
              <a:t>1</a:t>
            </a:r>
            <a:endParaRPr lang="en-US" sz="1400" dirty="0"/>
          </a:p>
        </p:txBody>
      </p:sp>
      <p:sp>
        <p:nvSpPr>
          <p:cNvPr id="7" name="Text 4"/>
          <p:cNvSpPr/>
          <p:nvPr/>
        </p:nvSpPr>
        <p:spPr>
          <a:xfrm>
            <a:off x="819760" y="3063240"/>
            <a:ext cx="1773936" cy="548640"/>
          </a:xfrm>
          <a:prstGeom prst="rect">
            <a:avLst/>
          </a:prstGeom>
          <a:noFill/>
          <a:ln/>
        </p:spPr>
        <p:txBody>
          <a:bodyPr wrap="square" lIns="0" tIns="0" rIns="0" bIns="0" rtlCol="0" anchor="ctr"/>
          <a:lstStyle/>
          <a:p>
            <a:pPr algn="ctr" indent="0" marL="0">
              <a:buNone/>
            </a:pPr>
            <a:r>
              <a:rPr lang="en-US" sz="1400" b="1" dirty="0">
                <a:solidFill>
                  <a:srgbClr val="0B1E3D"/>
                </a:solidFill>
                <a:latin typeface="Calibri" pitchFamily="34" charset="0"/>
                <a:ea typeface="Calibri" pitchFamily="34" charset="-122"/>
                <a:cs typeface="Calibri" pitchFamily="34" charset="-120"/>
              </a:rPr>
              <a:t>Data Collection</a:t>
            </a:r>
            <a:endParaRPr lang="en-US" sz="1400" dirty="0"/>
          </a:p>
        </p:txBody>
      </p:sp>
      <p:sp>
        <p:nvSpPr>
          <p:cNvPr id="8" name="Text 5"/>
          <p:cNvSpPr/>
          <p:nvPr/>
        </p:nvSpPr>
        <p:spPr>
          <a:xfrm>
            <a:off x="874624" y="3611880"/>
            <a:ext cx="1664208" cy="1371600"/>
          </a:xfrm>
          <a:prstGeom prst="rect">
            <a:avLst/>
          </a:prstGeom>
          <a:noFill/>
          <a:ln/>
        </p:spPr>
        <p:txBody>
          <a:bodyPr wrap="square" rtlCol="0" anchor="t"/>
          <a:lstStyle/>
          <a:p>
            <a:pPr algn="ctr" indent="0" marL="0">
              <a:lnSpc>
                <a:spcPct val="120000"/>
              </a:lnSpc>
              <a:buNone/>
            </a:pPr>
            <a:r>
              <a:rPr lang="en-US" sz="1100" dirty="0">
                <a:solidFill>
                  <a:srgbClr val="65718A"/>
                </a:solidFill>
                <a:latin typeface="Calibri" pitchFamily="34" charset="0"/>
                <a:ea typeface="Calibri" pitchFamily="34" charset="-122"/>
                <a:cs typeface="Calibri" pitchFamily="34" charset="-120"/>
              </a:rPr>
              <a:t>Import the five Crunchbase datasets into Power BI</a:t>
            </a:r>
            <a:endParaRPr lang="en-US" sz="1100" dirty="0"/>
          </a:p>
        </p:txBody>
      </p:sp>
      <p:sp>
        <p:nvSpPr>
          <p:cNvPr id="9" name="Shape 6"/>
          <p:cNvSpPr/>
          <p:nvPr/>
        </p:nvSpPr>
        <p:spPr>
          <a:xfrm>
            <a:off x="2712568" y="3355848"/>
            <a:ext cx="182880" cy="237744"/>
          </a:xfrm>
          <a:prstGeom prst="chevron">
            <a:avLst/>
          </a:prstGeom>
          <a:solidFill>
            <a:srgbClr val="C99A3E"/>
          </a:solidFill>
          <a:ln/>
        </p:spPr>
      </p:sp>
      <p:sp>
        <p:nvSpPr>
          <p:cNvPr id="10" name="Shape 7"/>
          <p:cNvSpPr/>
          <p:nvPr/>
        </p:nvSpPr>
        <p:spPr>
          <a:xfrm>
            <a:off x="2904592" y="1828800"/>
            <a:ext cx="1993392" cy="3291840"/>
          </a:xfrm>
          <a:prstGeom prst="roundRect">
            <a:avLst>
              <a:gd name="adj" fmla="val 4587"/>
            </a:avLst>
          </a:prstGeom>
          <a:solidFill>
            <a:srgbClr val="FFFFFF"/>
          </a:solidFill>
          <a:ln/>
          <a:effectLst>
            <a:outerShdw sx="100000" sy="100000" kx="0" ky="0" algn="bl" rotWithShape="0" blurRad="101600" dist="38100" dir="2700000">
              <a:srgbClr val="0B1E3D">
                <a:alpha val="18000"/>
              </a:srgbClr>
            </a:outerShdw>
          </a:effectLst>
        </p:spPr>
      </p:sp>
      <p:sp>
        <p:nvSpPr>
          <p:cNvPr id="11" name="Shape 8"/>
          <p:cNvSpPr/>
          <p:nvPr/>
        </p:nvSpPr>
        <p:spPr>
          <a:xfrm>
            <a:off x="3535528" y="2103120"/>
            <a:ext cx="731520" cy="731520"/>
          </a:xfrm>
          <a:prstGeom prst="ellipse">
            <a:avLst/>
          </a:prstGeom>
          <a:solidFill>
            <a:srgbClr val="0B1E3D"/>
          </a:solidFill>
          <a:ln/>
        </p:spPr>
      </p:sp>
      <p:pic>
        <p:nvPicPr>
          <p:cNvPr id="12" name="Image 1" descr="preencoded.png">    </p:cNvPr>
          <p:cNvPicPr>
            <a:picLocks noChangeAspect="1"/>
          </p:cNvPicPr>
          <p:nvPr/>
        </p:nvPicPr>
        <p:blipFill>
          <a:blip r:embed="rId2"/>
          <a:stretch>
            <a:fillRect/>
          </a:stretch>
        </p:blipFill>
        <p:spPr>
          <a:xfrm>
            <a:off x="3700120" y="2267712"/>
            <a:ext cx="402336" cy="402336"/>
          </a:xfrm>
          <a:prstGeom prst="rect">
            <a:avLst/>
          </a:prstGeom>
        </p:spPr>
      </p:pic>
      <p:sp>
        <p:nvSpPr>
          <p:cNvPr id="13" name="Text 9"/>
          <p:cNvSpPr/>
          <p:nvPr/>
        </p:nvSpPr>
        <p:spPr>
          <a:xfrm>
            <a:off x="4440784" y="1664208"/>
            <a:ext cx="365760" cy="365760"/>
          </a:xfrm>
          <a:prstGeom prst="rect">
            <a:avLst/>
          </a:prstGeom>
          <a:noFill/>
          <a:ln/>
        </p:spPr>
        <p:txBody>
          <a:bodyPr wrap="square" rtlCol="0" anchor="ctr"/>
          <a:lstStyle/>
          <a:p>
            <a:pPr algn="r" indent="0" marL="0">
              <a:buNone/>
            </a:pPr>
            <a:r>
              <a:rPr lang="en-US" sz="1400" b="1" dirty="0">
                <a:solidFill>
                  <a:srgbClr val="C99A3E"/>
                </a:solidFill>
                <a:latin typeface="Cambria" pitchFamily="34" charset="0"/>
                <a:ea typeface="Cambria" pitchFamily="34" charset="-122"/>
                <a:cs typeface="Cambria" pitchFamily="34" charset="-120"/>
              </a:rPr>
              <a:t>2</a:t>
            </a:r>
            <a:endParaRPr lang="en-US" sz="1400" dirty="0"/>
          </a:p>
        </p:txBody>
      </p:sp>
      <p:sp>
        <p:nvSpPr>
          <p:cNvPr id="14" name="Text 10"/>
          <p:cNvSpPr/>
          <p:nvPr/>
        </p:nvSpPr>
        <p:spPr>
          <a:xfrm>
            <a:off x="3014320" y="3063240"/>
            <a:ext cx="1773936" cy="548640"/>
          </a:xfrm>
          <a:prstGeom prst="rect">
            <a:avLst/>
          </a:prstGeom>
          <a:noFill/>
          <a:ln/>
        </p:spPr>
        <p:txBody>
          <a:bodyPr wrap="square" lIns="0" tIns="0" rIns="0" bIns="0" rtlCol="0" anchor="ctr"/>
          <a:lstStyle/>
          <a:p>
            <a:pPr algn="ctr" indent="0" marL="0">
              <a:buNone/>
            </a:pPr>
            <a:r>
              <a:rPr lang="en-US" sz="1400" b="1" dirty="0">
                <a:solidFill>
                  <a:srgbClr val="0B1E3D"/>
                </a:solidFill>
                <a:latin typeface="Calibri" pitchFamily="34" charset="0"/>
                <a:ea typeface="Calibri" pitchFamily="34" charset="-122"/>
                <a:cs typeface="Calibri" pitchFamily="34" charset="-120"/>
              </a:rPr>
              <a:t>Data Cleaning</a:t>
            </a:r>
            <a:endParaRPr lang="en-US" sz="1400" dirty="0"/>
          </a:p>
        </p:txBody>
      </p:sp>
      <p:sp>
        <p:nvSpPr>
          <p:cNvPr id="15" name="Text 11"/>
          <p:cNvSpPr/>
          <p:nvPr/>
        </p:nvSpPr>
        <p:spPr>
          <a:xfrm>
            <a:off x="3069184" y="3611880"/>
            <a:ext cx="1664208" cy="1371600"/>
          </a:xfrm>
          <a:prstGeom prst="rect">
            <a:avLst/>
          </a:prstGeom>
          <a:noFill/>
          <a:ln/>
        </p:spPr>
        <p:txBody>
          <a:bodyPr wrap="square" rtlCol="0" anchor="t"/>
          <a:lstStyle/>
          <a:p>
            <a:pPr algn="ctr" indent="0" marL="0">
              <a:lnSpc>
                <a:spcPct val="120000"/>
              </a:lnSpc>
              <a:buNone/>
            </a:pPr>
            <a:r>
              <a:rPr lang="en-US" sz="1100" dirty="0">
                <a:solidFill>
                  <a:srgbClr val="65718A"/>
                </a:solidFill>
                <a:latin typeface="Calibri" pitchFamily="34" charset="0"/>
                <a:ea typeface="Calibri" pitchFamily="34" charset="-122"/>
                <a:cs typeface="Calibri" pitchFamily="34" charset="-120"/>
              </a:rPr>
              <a:t>Remove duplicates, handle missing values, standardize countries &amp; categories</a:t>
            </a:r>
            <a:endParaRPr lang="en-US" sz="1100" dirty="0"/>
          </a:p>
        </p:txBody>
      </p:sp>
      <p:sp>
        <p:nvSpPr>
          <p:cNvPr id="16" name="Shape 12"/>
          <p:cNvSpPr/>
          <p:nvPr/>
        </p:nvSpPr>
        <p:spPr>
          <a:xfrm>
            <a:off x="4907128" y="3355848"/>
            <a:ext cx="182880" cy="237744"/>
          </a:xfrm>
          <a:prstGeom prst="chevron">
            <a:avLst/>
          </a:prstGeom>
          <a:solidFill>
            <a:srgbClr val="C99A3E"/>
          </a:solidFill>
          <a:ln/>
        </p:spPr>
      </p:sp>
      <p:sp>
        <p:nvSpPr>
          <p:cNvPr id="17" name="Shape 13"/>
          <p:cNvSpPr/>
          <p:nvPr/>
        </p:nvSpPr>
        <p:spPr>
          <a:xfrm>
            <a:off x="5099152" y="1828800"/>
            <a:ext cx="1993392" cy="3291840"/>
          </a:xfrm>
          <a:prstGeom prst="roundRect">
            <a:avLst>
              <a:gd name="adj" fmla="val 4587"/>
            </a:avLst>
          </a:prstGeom>
          <a:solidFill>
            <a:srgbClr val="FFFFFF"/>
          </a:solidFill>
          <a:ln/>
          <a:effectLst>
            <a:outerShdw sx="100000" sy="100000" kx="0" ky="0" algn="bl" rotWithShape="0" blurRad="101600" dist="38100" dir="2700000">
              <a:srgbClr val="0B1E3D">
                <a:alpha val="18000"/>
              </a:srgbClr>
            </a:outerShdw>
          </a:effectLst>
        </p:spPr>
      </p:sp>
      <p:sp>
        <p:nvSpPr>
          <p:cNvPr id="18" name="Shape 14"/>
          <p:cNvSpPr/>
          <p:nvPr/>
        </p:nvSpPr>
        <p:spPr>
          <a:xfrm>
            <a:off x="5730088" y="2103120"/>
            <a:ext cx="731520" cy="731520"/>
          </a:xfrm>
          <a:prstGeom prst="ellipse">
            <a:avLst/>
          </a:prstGeom>
          <a:solidFill>
            <a:srgbClr val="0B1E3D"/>
          </a:solidFill>
          <a:ln/>
        </p:spPr>
      </p:sp>
      <p:pic>
        <p:nvPicPr>
          <p:cNvPr id="19" name="Image 2" descr="preencoded.png">    </p:cNvPr>
          <p:cNvPicPr>
            <a:picLocks noChangeAspect="1"/>
          </p:cNvPicPr>
          <p:nvPr/>
        </p:nvPicPr>
        <p:blipFill>
          <a:blip r:embed="rId3"/>
          <a:stretch>
            <a:fillRect/>
          </a:stretch>
        </p:blipFill>
        <p:spPr>
          <a:xfrm>
            <a:off x="5894680" y="2267712"/>
            <a:ext cx="402336" cy="402336"/>
          </a:xfrm>
          <a:prstGeom prst="rect">
            <a:avLst/>
          </a:prstGeom>
        </p:spPr>
      </p:pic>
      <p:sp>
        <p:nvSpPr>
          <p:cNvPr id="20" name="Text 15"/>
          <p:cNvSpPr/>
          <p:nvPr/>
        </p:nvSpPr>
        <p:spPr>
          <a:xfrm>
            <a:off x="6635344" y="1664208"/>
            <a:ext cx="365760" cy="365760"/>
          </a:xfrm>
          <a:prstGeom prst="rect">
            <a:avLst/>
          </a:prstGeom>
          <a:noFill/>
          <a:ln/>
        </p:spPr>
        <p:txBody>
          <a:bodyPr wrap="square" rtlCol="0" anchor="ctr"/>
          <a:lstStyle/>
          <a:p>
            <a:pPr algn="r" indent="0" marL="0">
              <a:buNone/>
            </a:pPr>
            <a:r>
              <a:rPr lang="en-US" sz="1400" b="1" dirty="0">
                <a:solidFill>
                  <a:srgbClr val="C99A3E"/>
                </a:solidFill>
                <a:latin typeface="Cambria" pitchFamily="34" charset="0"/>
                <a:ea typeface="Cambria" pitchFamily="34" charset="-122"/>
                <a:cs typeface="Cambria" pitchFamily="34" charset="-120"/>
              </a:rPr>
              <a:t>3</a:t>
            </a:r>
            <a:endParaRPr lang="en-US" sz="1400" dirty="0"/>
          </a:p>
        </p:txBody>
      </p:sp>
      <p:sp>
        <p:nvSpPr>
          <p:cNvPr id="21" name="Text 16"/>
          <p:cNvSpPr/>
          <p:nvPr/>
        </p:nvSpPr>
        <p:spPr>
          <a:xfrm>
            <a:off x="5208880" y="3063240"/>
            <a:ext cx="1773936" cy="548640"/>
          </a:xfrm>
          <a:prstGeom prst="rect">
            <a:avLst/>
          </a:prstGeom>
          <a:noFill/>
          <a:ln/>
        </p:spPr>
        <p:txBody>
          <a:bodyPr wrap="square" lIns="0" tIns="0" rIns="0" bIns="0" rtlCol="0" anchor="ctr"/>
          <a:lstStyle/>
          <a:p>
            <a:pPr algn="ctr" indent="0" marL="0">
              <a:buNone/>
            </a:pPr>
            <a:r>
              <a:rPr lang="en-US" sz="1400" b="1" dirty="0">
                <a:solidFill>
                  <a:srgbClr val="0B1E3D"/>
                </a:solidFill>
                <a:latin typeface="Calibri" pitchFamily="34" charset="0"/>
                <a:ea typeface="Calibri" pitchFamily="34" charset="-122"/>
                <a:cs typeface="Calibri" pitchFamily="34" charset="-120"/>
              </a:rPr>
              <a:t>Transformation</a:t>
            </a:r>
            <a:endParaRPr lang="en-US" sz="1400" dirty="0"/>
          </a:p>
        </p:txBody>
      </p:sp>
      <p:sp>
        <p:nvSpPr>
          <p:cNvPr id="22" name="Text 17"/>
          <p:cNvSpPr/>
          <p:nvPr/>
        </p:nvSpPr>
        <p:spPr>
          <a:xfrm>
            <a:off x="5263744" y="3611880"/>
            <a:ext cx="1664208" cy="1371600"/>
          </a:xfrm>
          <a:prstGeom prst="rect">
            <a:avLst/>
          </a:prstGeom>
          <a:noFill/>
          <a:ln/>
        </p:spPr>
        <p:txBody>
          <a:bodyPr wrap="square" rtlCol="0" anchor="t"/>
          <a:lstStyle/>
          <a:p>
            <a:pPr algn="ctr" indent="0" marL="0">
              <a:lnSpc>
                <a:spcPct val="120000"/>
              </a:lnSpc>
              <a:buNone/>
            </a:pPr>
            <a:r>
              <a:rPr lang="en-US" sz="1100" dirty="0">
                <a:solidFill>
                  <a:srgbClr val="65718A"/>
                </a:solidFill>
                <a:latin typeface="Calibri" pitchFamily="34" charset="0"/>
                <a:ea typeface="Calibri" pitchFamily="34" charset="-122"/>
                <a:cs typeface="Calibri" pitchFamily="34" charset="-120"/>
              </a:rPr>
              <a:t>Build funding categories, startup age groups, and KPI measures</a:t>
            </a:r>
            <a:endParaRPr lang="en-US" sz="1100" dirty="0"/>
          </a:p>
        </p:txBody>
      </p:sp>
      <p:sp>
        <p:nvSpPr>
          <p:cNvPr id="23" name="Shape 18"/>
          <p:cNvSpPr/>
          <p:nvPr/>
        </p:nvSpPr>
        <p:spPr>
          <a:xfrm>
            <a:off x="7101688" y="3355848"/>
            <a:ext cx="182880" cy="237744"/>
          </a:xfrm>
          <a:prstGeom prst="chevron">
            <a:avLst/>
          </a:prstGeom>
          <a:solidFill>
            <a:srgbClr val="C99A3E"/>
          </a:solidFill>
          <a:ln/>
        </p:spPr>
      </p:sp>
      <p:sp>
        <p:nvSpPr>
          <p:cNvPr id="24" name="Shape 19"/>
          <p:cNvSpPr/>
          <p:nvPr/>
        </p:nvSpPr>
        <p:spPr>
          <a:xfrm>
            <a:off x="7293712" y="1828800"/>
            <a:ext cx="1993392" cy="3291840"/>
          </a:xfrm>
          <a:prstGeom prst="roundRect">
            <a:avLst>
              <a:gd name="adj" fmla="val 4587"/>
            </a:avLst>
          </a:prstGeom>
          <a:solidFill>
            <a:srgbClr val="FFFFFF"/>
          </a:solidFill>
          <a:ln/>
          <a:effectLst>
            <a:outerShdw sx="100000" sy="100000" kx="0" ky="0" algn="bl" rotWithShape="0" blurRad="101600" dist="38100" dir="2700000">
              <a:srgbClr val="0B1E3D">
                <a:alpha val="18000"/>
              </a:srgbClr>
            </a:outerShdw>
          </a:effectLst>
        </p:spPr>
      </p:sp>
      <p:sp>
        <p:nvSpPr>
          <p:cNvPr id="25" name="Shape 20"/>
          <p:cNvSpPr/>
          <p:nvPr/>
        </p:nvSpPr>
        <p:spPr>
          <a:xfrm>
            <a:off x="7924648" y="2103120"/>
            <a:ext cx="731520" cy="731520"/>
          </a:xfrm>
          <a:prstGeom prst="ellipse">
            <a:avLst/>
          </a:prstGeom>
          <a:solidFill>
            <a:srgbClr val="0B1E3D"/>
          </a:solidFill>
          <a:ln/>
        </p:spPr>
      </p:sp>
      <p:pic>
        <p:nvPicPr>
          <p:cNvPr id="26" name="Image 3" descr="preencoded.png">    </p:cNvPr>
          <p:cNvPicPr>
            <a:picLocks noChangeAspect="1"/>
          </p:cNvPicPr>
          <p:nvPr/>
        </p:nvPicPr>
        <p:blipFill>
          <a:blip r:embed="rId4"/>
          <a:stretch>
            <a:fillRect/>
          </a:stretch>
        </p:blipFill>
        <p:spPr>
          <a:xfrm>
            <a:off x="8089240" y="2267712"/>
            <a:ext cx="402336" cy="402336"/>
          </a:xfrm>
          <a:prstGeom prst="rect">
            <a:avLst/>
          </a:prstGeom>
        </p:spPr>
      </p:pic>
      <p:sp>
        <p:nvSpPr>
          <p:cNvPr id="27" name="Text 21"/>
          <p:cNvSpPr/>
          <p:nvPr/>
        </p:nvSpPr>
        <p:spPr>
          <a:xfrm>
            <a:off x="8829904" y="1664208"/>
            <a:ext cx="365760" cy="365760"/>
          </a:xfrm>
          <a:prstGeom prst="rect">
            <a:avLst/>
          </a:prstGeom>
          <a:noFill/>
          <a:ln/>
        </p:spPr>
        <p:txBody>
          <a:bodyPr wrap="square" rtlCol="0" anchor="ctr"/>
          <a:lstStyle/>
          <a:p>
            <a:pPr algn="r" indent="0" marL="0">
              <a:buNone/>
            </a:pPr>
            <a:r>
              <a:rPr lang="en-US" sz="1400" b="1" dirty="0">
                <a:solidFill>
                  <a:srgbClr val="C99A3E"/>
                </a:solidFill>
                <a:latin typeface="Cambria" pitchFamily="34" charset="0"/>
                <a:ea typeface="Cambria" pitchFamily="34" charset="-122"/>
                <a:cs typeface="Cambria" pitchFamily="34" charset="-120"/>
              </a:rPr>
              <a:t>4</a:t>
            </a:r>
            <a:endParaRPr lang="en-US" sz="1400" dirty="0"/>
          </a:p>
        </p:txBody>
      </p:sp>
      <p:sp>
        <p:nvSpPr>
          <p:cNvPr id="28" name="Text 22"/>
          <p:cNvSpPr/>
          <p:nvPr/>
        </p:nvSpPr>
        <p:spPr>
          <a:xfrm>
            <a:off x="7403440" y="3063240"/>
            <a:ext cx="1773936" cy="548640"/>
          </a:xfrm>
          <a:prstGeom prst="rect">
            <a:avLst/>
          </a:prstGeom>
          <a:noFill/>
          <a:ln/>
        </p:spPr>
        <p:txBody>
          <a:bodyPr wrap="square" lIns="0" tIns="0" rIns="0" bIns="0" rtlCol="0" anchor="ctr"/>
          <a:lstStyle/>
          <a:p>
            <a:pPr algn="ctr" indent="0" marL="0">
              <a:buNone/>
            </a:pPr>
            <a:r>
              <a:rPr lang="en-US" sz="1400" b="1" dirty="0">
                <a:solidFill>
                  <a:srgbClr val="0B1E3D"/>
                </a:solidFill>
                <a:latin typeface="Calibri" pitchFamily="34" charset="0"/>
                <a:ea typeface="Calibri" pitchFamily="34" charset="-122"/>
                <a:cs typeface="Calibri" pitchFamily="34" charset="-120"/>
              </a:rPr>
              <a:t>EDA</a:t>
            </a:r>
            <a:endParaRPr lang="en-US" sz="1400" dirty="0"/>
          </a:p>
        </p:txBody>
      </p:sp>
      <p:sp>
        <p:nvSpPr>
          <p:cNvPr id="29" name="Text 23"/>
          <p:cNvSpPr/>
          <p:nvPr/>
        </p:nvSpPr>
        <p:spPr>
          <a:xfrm>
            <a:off x="7458304" y="3611880"/>
            <a:ext cx="1664208" cy="1371600"/>
          </a:xfrm>
          <a:prstGeom prst="rect">
            <a:avLst/>
          </a:prstGeom>
          <a:noFill/>
          <a:ln/>
        </p:spPr>
        <p:txBody>
          <a:bodyPr wrap="square" rtlCol="0" anchor="t"/>
          <a:lstStyle/>
          <a:p>
            <a:pPr algn="ctr" indent="0" marL="0">
              <a:lnSpc>
                <a:spcPct val="120000"/>
              </a:lnSpc>
              <a:buNone/>
            </a:pPr>
            <a:r>
              <a:rPr lang="en-US" sz="1100" dirty="0">
                <a:solidFill>
                  <a:srgbClr val="65718A"/>
                </a:solidFill>
                <a:latin typeface="Calibri" pitchFamily="34" charset="0"/>
                <a:ea typeface="Calibri" pitchFamily="34" charset="-122"/>
                <a:cs typeface="Calibri" pitchFamily="34" charset="-120"/>
              </a:rPr>
              <a:t>Growth, funding trend, investor activity, geographic &amp; exit analysis</a:t>
            </a:r>
            <a:endParaRPr lang="en-US" sz="1100" dirty="0"/>
          </a:p>
        </p:txBody>
      </p:sp>
      <p:sp>
        <p:nvSpPr>
          <p:cNvPr id="30" name="Shape 24"/>
          <p:cNvSpPr/>
          <p:nvPr/>
        </p:nvSpPr>
        <p:spPr>
          <a:xfrm>
            <a:off x="9296248" y="3355848"/>
            <a:ext cx="182880" cy="237744"/>
          </a:xfrm>
          <a:prstGeom prst="chevron">
            <a:avLst/>
          </a:prstGeom>
          <a:solidFill>
            <a:srgbClr val="C99A3E"/>
          </a:solidFill>
          <a:ln/>
        </p:spPr>
      </p:sp>
      <p:sp>
        <p:nvSpPr>
          <p:cNvPr id="31" name="Shape 25"/>
          <p:cNvSpPr/>
          <p:nvPr/>
        </p:nvSpPr>
        <p:spPr>
          <a:xfrm>
            <a:off x="9488272" y="1828800"/>
            <a:ext cx="1993392" cy="3291840"/>
          </a:xfrm>
          <a:prstGeom prst="roundRect">
            <a:avLst>
              <a:gd name="adj" fmla="val 4587"/>
            </a:avLst>
          </a:prstGeom>
          <a:solidFill>
            <a:srgbClr val="FFFFFF"/>
          </a:solidFill>
          <a:ln/>
          <a:effectLst>
            <a:outerShdw sx="100000" sy="100000" kx="0" ky="0" algn="bl" rotWithShape="0" blurRad="101600" dist="38100" dir="2700000">
              <a:srgbClr val="0B1E3D">
                <a:alpha val="18000"/>
              </a:srgbClr>
            </a:outerShdw>
          </a:effectLst>
        </p:spPr>
      </p:sp>
      <p:sp>
        <p:nvSpPr>
          <p:cNvPr id="32" name="Shape 26"/>
          <p:cNvSpPr/>
          <p:nvPr/>
        </p:nvSpPr>
        <p:spPr>
          <a:xfrm>
            <a:off x="10119208" y="2103120"/>
            <a:ext cx="731520" cy="731520"/>
          </a:xfrm>
          <a:prstGeom prst="ellipse">
            <a:avLst/>
          </a:prstGeom>
          <a:solidFill>
            <a:srgbClr val="0B1E3D"/>
          </a:solidFill>
          <a:ln/>
        </p:spPr>
      </p:sp>
      <p:pic>
        <p:nvPicPr>
          <p:cNvPr id="33" name="Image 4" descr="preencoded.png">    </p:cNvPr>
          <p:cNvPicPr>
            <a:picLocks noChangeAspect="1"/>
          </p:cNvPicPr>
          <p:nvPr/>
        </p:nvPicPr>
        <p:blipFill>
          <a:blip r:embed="rId5"/>
          <a:stretch>
            <a:fillRect/>
          </a:stretch>
        </p:blipFill>
        <p:spPr>
          <a:xfrm>
            <a:off x="10283800" y="2267712"/>
            <a:ext cx="402336" cy="402336"/>
          </a:xfrm>
          <a:prstGeom prst="rect">
            <a:avLst/>
          </a:prstGeom>
        </p:spPr>
      </p:pic>
      <p:sp>
        <p:nvSpPr>
          <p:cNvPr id="34" name="Text 27"/>
          <p:cNvSpPr/>
          <p:nvPr/>
        </p:nvSpPr>
        <p:spPr>
          <a:xfrm>
            <a:off x="11024464" y="1664208"/>
            <a:ext cx="365760" cy="365760"/>
          </a:xfrm>
          <a:prstGeom prst="rect">
            <a:avLst/>
          </a:prstGeom>
          <a:noFill/>
          <a:ln/>
        </p:spPr>
        <p:txBody>
          <a:bodyPr wrap="square" rtlCol="0" anchor="ctr"/>
          <a:lstStyle/>
          <a:p>
            <a:pPr algn="r" indent="0" marL="0">
              <a:buNone/>
            </a:pPr>
            <a:r>
              <a:rPr lang="en-US" sz="1400" b="1" dirty="0">
                <a:solidFill>
                  <a:srgbClr val="C99A3E"/>
                </a:solidFill>
                <a:latin typeface="Cambria" pitchFamily="34" charset="0"/>
                <a:ea typeface="Cambria" pitchFamily="34" charset="-122"/>
                <a:cs typeface="Cambria" pitchFamily="34" charset="-120"/>
              </a:rPr>
              <a:t>5</a:t>
            </a:r>
            <a:endParaRPr lang="en-US" sz="1400" dirty="0"/>
          </a:p>
        </p:txBody>
      </p:sp>
      <p:sp>
        <p:nvSpPr>
          <p:cNvPr id="35" name="Text 28"/>
          <p:cNvSpPr/>
          <p:nvPr/>
        </p:nvSpPr>
        <p:spPr>
          <a:xfrm>
            <a:off x="9598000" y="3063240"/>
            <a:ext cx="1773936" cy="548640"/>
          </a:xfrm>
          <a:prstGeom prst="rect">
            <a:avLst/>
          </a:prstGeom>
          <a:noFill/>
          <a:ln/>
        </p:spPr>
        <p:txBody>
          <a:bodyPr wrap="square" lIns="0" tIns="0" rIns="0" bIns="0" rtlCol="0" anchor="ctr"/>
          <a:lstStyle/>
          <a:p>
            <a:pPr algn="ctr" indent="0" marL="0">
              <a:buNone/>
            </a:pPr>
            <a:r>
              <a:rPr lang="en-US" sz="1400" b="1" dirty="0">
                <a:solidFill>
                  <a:srgbClr val="0B1E3D"/>
                </a:solidFill>
                <a:latin typeface="Calibri" pitchFamily="34" charset="0"/>
                <a:ea typeface="Calibri" pitchFamily="34" charset="-122"/>
                <a:cs typeface="Calibri" pitchFamily="34" charset="-120"/>
              </a:rPr>
              <a:t>Dashboard Build</a:t>
            </a:r>
            <a:endParaRPr lang="en-US" sz="1400" dirty="0"/>
          </a:p>
        </p:txBody>
      </p:sp>
      <p:sp>
        <p:nvSpPr>
          <p:cNvPr id="36" name="Text 29"/>
          <p:cNvSpPr/>
          <p:nvPr/>
        </p:nvSpPr>
        <p:spPr>
          <a:xfrm>
            <a:off x="9652864" y="3611880"/>
            <a:ext cx="1664208" cy="1371600"/>
          </a:xfrm>
          <a:prstGeom prst="rect">
            <a:avLst/>
          </a:prstGeom>
          <a:noFill/>
          <a:ln/>
        </p:spPr>
        <p:txBody>
          <a:bodyPr wrap="square" rtlCol="0" anchor="t"/>
          <a:lstStyle/>
          <a:p>
            <a:pPr algn="ctr" indent="0" marL="0">
              <a:lnSpc>
                <a:spcPct val="120000"/>
              </a:lnSpc>
              <a:buNone/>
            </a:pPr>
            <a:r>
              <a:rPr lang="en-US" sz="1100" dirty="0">
                <a:solidFill>
                  <a:srgbClr val="65718A"/>
                </a:solidFill>
                <a:latin typeface="Calibri" pitchFamily="34" charset="0"/>
                <a:ea typeface="Calibri" pitchFamily="34" charset="-122"/>
                <a:cs typeface="Calibri" pitchFamily="34" charset="-120"/>
              </a:rPr>
              <a:t>Interactive visuals, KPI cards, maps, filters, drill-through</a:t>
            </a:r>
            <a:endParaRPr lang="en-US" sz="1100" dirty="0"/>
          </a:p>
        </p:txBody>
      </p:sp>
      <p:sp>
        <p:nvSpPr>
          <p:cNvPr id="37" name="Text 30"/>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65718A"/>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38" name="Text 31"/>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65718A"/>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E3D"/>
        </a:solidFill>
      </p:bgPr>
    </p:bg>
    <p:spTree>
      <p:nvGrpSpPr>
        <p:cNvPr id="1" name=""/>
        <p:cNvGrpSpPr/>
        <p:nvPr/>
      </p:nvGrpSpPr>
      <p:grpSpPr>
        <a:xfrm>
          <a:off x="0" y="0"/>
          <a:ext cx="0" cy="0"/>
          <a:chOff x="0" y="0"/>
          <a:chExt cx="0" cy="0"/>
        </a:xfrm>
      </p:grpSpPr>
      <p:sp>
        <p:nvSpPr>
          <p:cNvPr id="2" name="Text 0"/>
          <p:cNvSpPr/>
          <p:nvPr/>
        </p:nvSpPr>
        <p:spPr>
          <a:xfrm>
            <a:off x="640080" y="411480"/>
            <a:ext cx="73152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Dashboard Showcase</a:t>
            </a:r>
            <a:endParaRPr lang="en-US" sz="2600" dirty="0"/>
          </a:p>
        </p:txBody>
      </p:sp>
      <p:sp>
        <p:nvSpPr>
          <p:cNvPr id="3" name="Text 1"/>
          <p:cNvSpPr/>
          <p:nvPr/>
        </p:nvSpPr>
        <p:spPr>
          <a:xfrm>
            <a:off x="640080" y="896112"/>
            <a:ext cx="7315200" cy="365760"/>
          </a:xfrm>
          <a:prstGeom prst="rect">
            <a:avLst/>
          </a:prstGeom>
          <a:noFill/>
          <a:ln/>
        </p:spPr>
        <p:txBody>
          <a:bodyPr wrap="square" rtlCol="0" anchor="ctr"/>
          <a:lstStyle/>
          <a:p>
            <a:pPr indent="0" marL="0">
              <a:buNone/>
            </a:pPr>
            <a:r>
              <a:rPr lang="en-US" sz="1350" i="1" dirty="0">
                <a:solidFill>
                  <a:srgbClr val="AFC3DD"/>
                </a:solidFill>
                <a:latin typeface="Calibri" pitchFamily="34" charset="0"/>
                <a:ea typeface="Calibri" pitchFamily="34" charset="-122"/>
                <a:cs typeface="Calibri" pitchFamily="34" charset="-120"/>
              </a:rPr>
              <a:t>Startup Investment Intelligence Dashboard — Power BI</a:t>
            </a:r>
            <a:endParaRPr lang="en-US" sz="1350" dirty="0"/>
          </a:p>
        </p:txBody>
      </p:sp>
      <p:sp>
        <p:nvSpPr>
          <p:cNvPr id="4" name="Shape 2"/>
          <p:cNvSpPr/>
          <p:nvPr/>
        </p:nvSpPr>
        <p:spPr>
          <a:xfrm>
            <a:off x="502920" y="1417320"/>
            <a:ext cx="6422006" cy="4818888"/>
          </a:xfrm>
          <a:prstGeom prst="roundRect">
            <a:avLst>
              <a:gd name="adj" fmla="val 759"/>
            </a:avLst>
          </a:prstGeom>
          <a:solidFill>
            <a:srgbClr val="FFFFFF"/>
          </a:solidFill>
          <a:ln/>
          <a:effectLst>
            <a:outerShdw sx="100000" sy="100000" kx="0" ky="0" algn="bl" rotWithShape="0" blurRad="101600" dist="38100" dir="2700000">
              <a:srgbClr val="0B1E3D">
                <a:alpha val="18000"/>
              </a:srgbClr>
            </a:outerShdw>
          </a:effectLst>
        </p:spPr>
      </p:sp>
      <p:pic>
        <p:nvPicPr>
          <p:cNvPr id="5" name="Image 0" descr="/mnt/user-data/uploads/WhatsApp_Image_2026-06-17_at_17_06_38.jpeg">    </p:cNvPr>
          <p:cNvPicPr>
            <a:picLocks noChangeAspect="1"/>
          </p:cNvPicPr>
          <p:nvPr/>
        </p:nvPicPr>
        <p:blipFill>
          <a:blip r:embed="rId1"/>
          <a:stretch>
            <a:fillRect/>
          </a:stretch>
        </p:blipFill>
        <p:spPr>
          <a:xfrm>
            <a:off x="557784" y="1472184"/>
            <a:ext cx="6312278" cy="4709160"/>
          </a:xfrm>
          <a:prstGeom prst="rect">
            <a:avLst/>
          </a:prstGeom>
        </p:spPr>
      </p:pic>
      <p:sp>
        <p:nvSpPr>
          <p:cNvPr id="6" name="Shape 3"/>
          <p:cNvSpPr/>
          <p:nvPr/>
        </p:nvSpPr>
        <p:spPr>
          <a:xfrm>
            <a:off x="7226678" y="1463040"/>
            <a:ext cx="384048" cy="384048"/>
          </a:xfrm>
          <a:prstGeom prst="ellipse">
            <a:avLst/>
          </a:prstGeom>
          <a:solidFill>
            <a:srgbClr val="C99A3E"/>
          </a:solidFill>
          <a:ln/>
        </p:spPr>
      </p:sp>
      <p:pic>
        <p:nvPicPr>
          <p:cNvPr id="7" name="Image 1" descr="preencoded.png">    </p:cNvPr>
          <p:cNvPicPr>
            <a:picLocks noChangeAspect="1"/>
          </p:cNvPicPr>
          <p:nvPr/>
        </p:nvPicPr>
        <p:blipFill>
          <a:blip r:embed="rId2"/>
          <a:stretch>
            <a:fillRect/>
          </a:stretch>
        </p:blipFill>
        <p:spPr>
          <a:xfrm>
            <a:off x="7313089" y="1549451"/>
            <a:ext cx="211226" cy="211226"/>
          </a:xfrm>
          <a:prstGeom prst="rect">
            <a:avLst/>
          </a:prstGeom>
        </p:spPr>
      </p:pic>
      <p:sp>
        <p:nvSpPr>
          <p:cNvPr id="8" name="Text 4"/>
          <p:cNvSpPr/>
          <p:nvPr/>
        </p:nvSpPr>
        <p:spPr>
          <a:xfrm>
            <a:off x="7757030" y="1408176"/>
            <a:ext cx="4206240" cy="365760"/>
          </a:xfrm>
          <a:prstGeom prst="rect">
            <a:avLst/>
          </a:prstGeom>
          <a:noFill/>
          <a:ln/>
        </p:spPr>
        <p:txBody>
          <a:bodyPr wrap="square" lIns="0" tIns="0" rIns="0" bIns="0" rtlCol="0" anchor="ctr"/>
          <a:lstStyle/>
          <a:p>
            <a:pPr indent="0" marL="0">
              <a:buNone/>
            </a:pPr>
            <a:r>
              <a:rPr lang="en-US" sz="1400" b="1" dirty="0">
                <a:solidFill>
                  <a:srgbClr val="E8C97A"/>
                </a:solidFill>
                <a:latin typeface="Calibri" pitchFamily="34" charset="0"/>
                <a:ea typeface="Calibri" pitchFamily="34" charset="-122"/>
                <a:cs typeface="Calibri" pitchFamily="34" charset="-120"/>
              </a:rPr>
              <a:t>Category Leaders</a:t>
            </a:r>
            <a:endParaRPr lang="en-US" sz="1400" dirty="0"/>
          </a:p>
        </p:txBody>
      </p:sp>
      <p:sp>
        <p:nvSpPr>
          <p:cNvPr id="9" name="Text 5"/>
          <p:cNvSpPr/>
          <p:nvPr/>
        </p:nvSpPr>
        <p:spPr>
          <a:xfrm>
            <a:off x="7757030" y="1755648"/>
            <a:ext cx="4206240" cy="777240"/>
          </a:xfrm>
          <a:prstGeom prst="rect">
            <a:avLst/>
          </a:prstGeom>
          <a:noFill/>
          <a:ln/>
        </p:spPr>
        <p:txBody>
          <a:bodyPr wrap="square" rtlCol="0" anchor="t"/>
          <a:lstStyle/>
          <a:p>
            <a:pPr indent="0" marL="0">
              <a:lnSpc>
                <a:spcPct val="120000"/>
              </a:lnSpc>
              <a:buNone/>
            </a:pPr>
            <a:r>
              <a:rPr lang="en-US" sz="1150" dirty="0">
                <a:solidFill>
                  <a:srgbClr val="AFC3DD"/>
                </a:solidFill>
                <a:latin typeface="Calibri" pitchFamily="34" charset="0"/>
                <a:ea typeface="Calibri" pitchFamily="34" charset="-122"/>
                <a:cs typeface="Calibri" pitchFamily="34" charset="-120"/>
              </a:rPr>
              <a:t>Biotech, software &amp; cleantech draw the most capital across all sectors tracked.</a:t>
            </a:r>
            <a:endParaRPr lang="en-US" sz="1150" dirty="0"/>
          </a:p>
        </p:txBody>
      </p:sp>
      <p:sp>
        <p:nvSpPr>
          <p:cNvPr id="10" name="Shape 6"/>
          <p:cNvSpPr/>
          <p:nvPr/>
        </p:nvSpPr>
        <p:spPr>
          <a:xfrm>
            <a:off x="7226678" y="2633472"/>
            <a:ext cx="384048" cy="384048"/>
          </a:xfrm>
          <a:prstGeom prst="ellipse">
            <a:avLst/>
          </a:prstGeom>
          <a:solidFill>
            <a:srgbClr val="C99A3E"/>
          </a:solidFill>
          <a:ln/>
        </p:spPr>
      </p:sp>
      <p:pic>
        <p:nvPicPr>
          <p:cNvPr id="11" name="Image 2" descr="preencoded.png">    </p:cNvPr>
          <p:cNvPicPr>
            <a:picLocks noChangeAspect="1"/>
          </p:cNvPicPr>
          <p:nvPr/>
        </p:nvPicPr>
        <p:blipFill>
          <a:blip r:embed="rId3"/>
          <a:stretch>
            <a:fillRect/>
          </a:stretch>
        </p:blipFill>
        <p:spPr>
          <a:xfrm>
            <a:off x="7313089" y="2719883"/>
            <a:ext cx="211226" cy="211226"/>
          </a:xfrm>
          <a:prstGeom prst="rect">
            <a:avLst/>
          </a:prstGeom>
        </p:spPr>
      </p:pic>
      <p:sp>
        <p:nvSpPr>
          <p:cNvPr id="12" name="Text 7"/>
          <p:cNvSpPr/>
          <p:nvPr/>
        </p:nvSpPr>
        <p:spPr>
          <a:xfrm>
            <a:off x="7757030" y="2578608"/>
            <a:ext cx="4206240" cy="365760"/>
          </a:xfrm>
          <a:prstGeom prst="rect">
            <a:avLst/>
          </a:prstGeom>
          <a:noFill/>
          <a:ln/>
        </p:spPr>
        <p:txBody>
          <a:bodyPr wrap="square" lIns="0" tIns="0" rIns="0" bIns="0" rtlCol="0" anchor="ctr"/>
          <a:lstStyle/>
          <a:p>
            <a:pPr indent="0" marL="0">
              <a:buNone/>
            </a:pPr>
            <a:r>
              <a:rPr lang="en-US" sz="1400" b="1" dirty="0">
                <a:solidFill>
                  <a:srgbClr val="E8C97A"/>
                </a:solidFill>
                <a:latin typeface="Calibri" pitchFamily="34" charset="0"/>
                <a:ea typeface="Calibri" pitchFamily="34" charset="-122"/>
                <a:cs typeface="Calibri" pitchFamily="34" charset="-120"/>
              </a:rPr>
              <a:t>Round Mix</a:t>
            </a:r>
            <a:endParaRPr lang="en-US" sz="1400" dirty="0"/>
          </a:p>
        </p:txBody>
      </p:sp>
      <p:sp>
        <p:nvSpPr>
          <p:cNvPr id="13" name="Text 8"/>
          <p:cNvSpPr/>
          <p:nvPr/>
        </p:nvSpPr>
        <p:spPr>
          <a:xfrm>
            <a:off x="7757030" y="2926080"/>
            <a:ext cx="4206240" cy="777240"/>
          </a:xfrm>
          <a:prstGeom prst="rect">
            <a:avLst/>
          </a:prstGeom>
          <a:noFill/>
          <a:ln/>
        </p:spPr>
        <p:txBody>
          <a:bodyPr wrap="square" rtlCol="0" anchor="t"/>
          <a:lstStyle/>
          <a:p>
            <a:pPr indent="0" marL="0">
              <a:lnSpc>
                <a:spcPct val="120000"/>
              </a:lnSpc>
              <a:buNone/>
            </a:pPr>
            <a:r>
              <a:rPr lang="en-US" sz="1150" dirty="0">
                <a:solidFill>
                  <a:srgbClr val="AFC3DD"/>
                </a:solidFill>
                <a:latin typeface="Calibri" pitchFamily="34" charset="0"/>
                <a:ea typeface="Calibri" pitchFamily="34" charset="-122"/>
                <a:cs typeface="Calibri" pitchFamily="34" charset="-120"/>
              </a:rPr>
              <a:t>Venture and Series A rounds account for the bulk of all funding events.</a:t>
            </a:r>
            <a:endParaRPr lang="en-US" sz="1150" dirty="0"/>
          </a:p>
        </p:txBody>
      </p:sp>
      <p:sp>
        <p:nvSpPr>
          <p:cNvPr id="14" name="Shape 9"/>
          <p:cNvSpPr/>
          <p:nvPr/>
        </p:nvSpPr>
        <p:spPr>
          <a:xfrm>
            <a:off x="7226678" y="3803904"/>
            <a:ext cx="384048" cy="384048"/>
          </a:xfrm>
          <a:prstGeom prst="ellipse">
            <a:avLst/>
          </a:prstGeom>
          <a:solidFill>
            <a:srgbClr val="C99A3E"/>
          </a:solidFill>
          <a:ln/>
        </p:spPr>
      </p:sp>
      <p:pic>
        <p:nvPicPr>
          <p:cNvPr id="15" name="Image 3" descr="preencoded.png">    </p:cNvPr>
          <p:cNvPicPr>
            <a:picLocks noChangeAspect="1"/>
          </p:cNvPicPr>
          <p:nvPr/>
        </p:nvPicPr>
        <p:blipFill>
          <a:blip r:embed="rId4"/>
          <a:stretch>
            <a:fillRect/>
          </a:stretch>
        </p:blipFill>
        <p:spPr>
          <a:xfrm>
            <a:off x="7313089" y="3890315"/>
            <a:ext cx="211226" cy="211226"/>
          </a:xfrm>
          <a:prstGeom prst="rect">
            <a:avLst/>
          </a:prstGeom>
        </p:spPr>
      </p:pic>
      <p:sp>
        <p:nvSpPr>
          <p:cNvPr id="16" name="Text 10"/>
          <p:cNvSpPr/>
          <p:nvPr/>
        </p:nvSpPr>
        <p:spPr>
          <a:xfrm>
            <a:off x="7757030" y="3749040"/>
            <a:ext cx="4206240" cy="365760"/>
          </a:xfrm>
          <a:prstGeom prst="rect">
            <a:avLst/>
          </a:prstGeom>
          <a:noFill/>
          <a:ln/>
        </p:spPr>
        <p:txBody>
          <a:bodyPr wrap="square" lIns="0" tIns="0" rIns="0" bIns="0" rtlCol="0" anchor="ctr"/>
          <a:lstStyle/>
          <a:p>
            <a:pPr indent="0" marL="0">
              <a:buNone/>
            </a:pPr>
            <a:r>
              <a:rPr lang="en-US" sz="1400" b="1" dirty="0">
                <a:solidFill>
                  <a:srgbClr val="E8C97A"/>
                </a:solidFill>
                <a:latin typeface="Calibri" pitchFamily="34" charset="0"/>
                <a:ea typeface="Calibri" pitchFamily="34" charset="-122"/>
                <a:cs typeface="Calibri" pitchFamily="34" charset="-120"/>
              </a:rPr>
              <a:t>Steady Climb</a:t>
            </a:r>
            <a:endParaRPr lang="en-US" sz="1400" dirty="0"/>
          </a:p>
        </p:txBody>
      </p:sp>
      <p:sp>
        <p:nvSpPr>
          <p:cNvPr id="17" name="Text 11"/>
          <p:cNvSpPr/>
          <p:nvPr/>
        </p:nvSpPr>
        <p:spPr>
          <a:xfrm>
            <a:off x="7757030" y="4096512"/>
            <a:ext cx="4206240" cy="777240"/>
          </a:xfrm>
          <a:prstGeom prst="rect">
            <a:avLst/>
          </a:prstGeom>
          <a:noFill/>
          <a:ln/>
        </p:spPr>
        <p:txBody>
          <a:bodyPr wrap="square" rtlCol="0" anchor="t"/>
          <a:lstStyle/>
          <a:p>
            <a:pPr indent="0" marL="0">
              <a:lnSpc>
                <a:spcPct val="120000"/>
              </a:lnSpc>
              <a:buNone/>
            </a:pPr>
            <a:r>
              <a:rPr lang="en-US" sz="1150" dirty="0">
                <a:solidFill>
                  <a:srgbClr val="AFC3DD"/>
                </a:solidFill>
                <a:latin typeface="Calibri" pitchFamily="34" charset="0"/>
                <a:ea typeface="Calibri" pitchFamily="34" charset="-122"/>
                <a:cs typeface="Calibri" pitchFamily="34" charset="-120"/>
              </a:rPr>
              <a:t>Average funding per round trends upward year over year.</a:t>
            </a:r>
            <a:endParaRPr lang="en-US" sz="1150" dirty="0"/>
          </a:p>
        </p:txBody>
      </p:sp>
      <p:sp>
        <p:nvSpPr>
          <p:cNvPr id="18" name="Shape 12"/>
          <p:cNvSpPr/>
          <p:nvPr/>
        </p:nvSpPr>
        <p:spPr>
          <a:xfrm>
            <a:off x="7226678" y="4974336"/>
            <a:ext cx="384048" cy="384048"/>
          </a:xfrm>
          <a:prstGeom prst="ellipse">
            <a:avLst/>
          </a:prstGeom>
          <a:solidFill>
            <a:srgbClr val="C99A3E"/>
          </a:solidFill>
          <a:ln/>
        </p:spPr>
      </p:sp>
      <p:pic>
        <p:nvPicPr>
          <p:cNvPr id="19" name="Image 4" descr="preencoded.png">    </p:cNvPr>
          <p:cNvPicPr>
            <a:picLocks noChangeAspect="1"/>
          </p:cNvPicPr>
          <p:nvPr/>
        </p:nvPicPr>
        <p:blipFill>
          <a:blip r:embed="rId5"/>
          <a:stretch>
            <a:fillRect/>
          </a:stretch>
        </p:blipFill>
        <p:spPr>
          <a:xfrm>
            <a:off x="7313089" y="5060747"/>
            <a:ext cx="211226" cy="211226"/>
          </a:xfrm>
          <a:prstGeom prst="rect">
            <a:avLst/>
          </a:prstGeom>
        </p:spPr>
      </p:pic>
      <p:sp>
        <p:nvSpPr>
          <p:cNvPr id="20" name="Text 13"/>
          <p:cNvSpPr/>
          <p:nvPr/>
        </p:nvSpPr>
        <p:spPr>
          <a:xfrm>
            <a:off x="7757030" y="4919472"/>
            <a:ext cx="4206240" cy="365760"/>
          </a:xfrm>
          <a:prstGeom prst="rect">
            <a:avLst/>
          </a:prstGeom>
          <a:noFill/>
          <a:ln/>
        </p:spPr>
        <p:txBody>
          <a:bodyPr wrap="square" lIns="0" tIns="0" rIns="0" bIns="0" rtlCol="0" anchor="ctr"/>
          <a:lstStyle/>
          <a:p>
            <a:pPr indent="0" marL="0">
              <a:buNone/>
            </a:pPr>
            <a:r>
              <a:rPr lang="en-US" sz="1400" b="1" dirty="0">
                <a:solidFill>
                  <a:srgbClr val="E8C97A"/>
                </a:solidFill>
                <a:latin typeface="Calibri" pitchFamily="34" charset="0"/>
                <a:ea typeface="Calibri" pitchFamily="34" charset="-122"/>
                <a:cs typeface="Calibri" pitchFamily="34" charset="-120"/>
              </a:rPr>
              <a:t>Global Reach</a:t>
            </a:r>
            <a:endParaRPr lang="en-US" sz="1400" dirty="0"/>
          </a:p>
        </p:txBody>
      </p:sp>
      <p:sp>
        <p:nvSpPr>
          <p:cNvPr id="21" name="Text 14"/>
          <p:cNvSpPr/>
          <p:nvPr/>
        </p:nvSpPr>
        <p:spPr>
          <a:xfrm>
            <a:off x="7757030" y="5266944"/>
            <a:ext cx="4206240" cy="777240"/>
          </a:xfrm>
          <a:prstGeom prst="rect">
            <a:avLst/>
          </a:prstGeom>
          <a:noFill/>
          <a:ln/>
        </p:spPr>
        <p:txBody>
          <a:bodyPr wrap="square" rtlCol="0" anchor="t"/>
          <a:lstStyle/>
          <a:p>
            <a:pPr indent="0" marL="0">
              <a:lnSpc>
                <a:spcPct val="120000"/>
              </a:lnSpc>
              <a:buNone/>
            </a:pPr>
            <a:r>
              <a:rPr lang="en-US" sz="1150" dirty="0">
                <a:solidFill>
                  <a:srgbClr val="AFC3DD"/>
                </a:solidFill>
                <a:latin typeface="Calibri" pitchFamily="34" charset="0"/>
                <a:ea typeface="Calibri" pitchFamily="34" charset="-122"/>
                <a:cs typeface="Calibri" pitchFamily="34" charset="-120"/>
              </a:rPr>
              <a:t>The USA leads funding volume, with the UK, China &amp; India following.</a:t>
            </a:r>
            <a:endParaRPr lang="en-US" sz="1150" dirty="0"/>
          </a:p>
        </p:txBody>
      </p:sp>
      <p:sp>
        <p:nvSpPr>
          <p:cNvPr id="22" name="Text 15"/>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8497B8"/>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23" name="Text 16"/>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8497B8"/>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E3D"/>
        </a:solidFill>
      </p:bgPr>
    </p:bg>
    <p:spTree>
      <p:nvGrpSpPr>
        <p:cNvPr id="1" name=""/>
        <p:cNvGrpSpPr/>
        <p:nvPr/>
      </p:nvGrpSpPr>
      <p:grpSpPr>
        <a:xfrm>
          <a:off x="0" y="0"/>
          <a:ext cx="0" cy="0"/>
          <a:chOff x="0" y="0"/>
          <a:chExt cx="0" cy="0"/>
        </a:xfrm>
      </p:grpSpPr>
      <p:sp>
        <p:nvSpPr>
          <p:cNvPr id="2" name="Text 0"/>
          <p:cNvSpPr/>
          <p:nvPr/>
        </p:nvSpPr>
        <p:spPr>
          <a:xfrm>
            <a:off x="640080" y="411480"/>
            <a:ext cx="73152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Dashboard Showcase</a:t>
            </a:r>
            <a:endParaRPr lang="en-US" sz="2600" dirty="0"/>
          </a:p>
        </p:txBody>
      </p:sp>
      <p:sp>
        <p:nvSpPr>
          <p:cNvPr id="3" name="Text 1"/>
          <p:cNvSpPr/>
          <p:nvPr/>
        </p:nvSpPr>
        <p:spPr>
          <a:xfrm>
            <a:off x="640080" y="896112"/>
            <a:ext cx="7315200" cy="365760"/>
          </a:xfrm>
          <a:prstGeom prst="rect">
            <a:avLst/>
          </a:prstGeom>
          <a:noFill/>
          <a:ln/>
        </p:spPr>
        <p:txBody>
          <a:bodyPr wrap="square" rtlCol="0" anchor="ctr"/>
          <a:lstStyle/>
          <a:p>
            <a:pPr indent="0" marL="0">
              <a:buNone/>
            </a:pPr>
            <a:r>
              <a:rPr lang="en-US" sz="1350" i="1" dirty="0">
                <a:solidFill>
                  <a:srgbClr val="AFC3DD"/>
                </a:solidFill>
                <a:latin typeface="Calibri" pitchFamily="34" charset="0"/>
                <a:ea typeface="Calibri" pitchFamily="34" charset="-122"/>
                <a:cs typeface="Calibri" pitchFamily="34" charset="-120"/>
              </a:rPr>
              <a:t>Executive Insights &amp; Key Findings — Power BI</a:t>
            </a:r>
            <a:endParaRPr lang="en-US" sz="1350" dirty="0"/>
          </a:p>
        </p:txBody>
      </p:sp>
      <p:sp>
        <p:nvSpPr>
          <p:cNvPr id="4" name="Shape 2"/>
          <p:cNvSpPr/>
          <p:nvPr/>
        </p:nvSpPr>
        <p:spPr>
          <a:xfrm>
            <a:off x="448056" y="1271016"/>
            <a:ext cx="6419088" cy="4101878"/>
          </a:xfrm>
          <a:prstGeom prst="roundRect">
            <a:avLst>
              <a:gd name="adj" fmla="val 892"/>
            </a:avLst>
          </a:prstGeom>
          <a:solidFill>
            <a:srgbClr val="FFFFFF"/>
          </a:solidFill>
          <a:ln/>
          <a:effectLst>
            <a:outerShdw sx="100000" sy="100000" kx="0" ky="0" algn="bl" rotWithShape="0" blurRad="101600" dist="38100" dir="2700000">
              <a:srgbClr val="0B1E3D">
                <a:alpha val="18000"/>
              </a:srgbClr>
            </a:outerShdw>
          </a:effectLst>
        </p:spPr>
      </p:sp>
      <p:pic>
        <p:nvPicPr>
          <p:cNvPr id="5" name="Image 0" descr="/mnt/user-data/uploads/WhatsApp_Image_2026-06-17_at_17_06_53.jpeg">    </p:cNvPr>
          <p:cNvPicPr>
            <a:picLocks noChangeAspect="1"/>
          </p:cNvPicPr>
          <p:nvPr/>
        </p:nvPicPr>
        <p:blipFill>
          <a:blip r:embed="rId1"/>
          <a:stretch>
            <a:fillRect/>
          </a:stretch>
        </p:blipFill>
        <p:spPr>
          <a:xfrm>
            <a:off x="502920" y="1325880"/>
            <a:ext cx="6309360" cy="3992150"/>
          </a:xfrm>
          <a:prstGeom prst="rect">
            <a:avLst/>
          </a:prstGeom>
        </p:spPr>
      </p:pic>
      <p:sp>
        <p:nvSpPr>
          <p:cNvPr id="6" name="Text 3"/>
          <p:cNvSpPr/>
          <p:nvPr/>
        </p:nvSpPr>
        <p:spPr>
          <a:xfrm>
            <a:off x="502920" y="5482622"/>
            <a:ext cx="1261872" cy="365760"/>
          </a:xfrm>
          <a:prstGeom prst="rect">
            <a:avLst/>
          </a:prstGeom>
          <a:noFill/>
          <a:ln/>
        </p:spPr>
        <p:txBody>
          <a:bodyPr wrap="square" lIns="0" tIns="0" rIns="0" bIns="0" rtlCol="0" anchor="ctr"/>
          <a:lstStyle/>
          <a:p>
            <a:pPr algn="ctr" indent="0" marL="0">
              <a:buNone/>
            </a:pPr>
            <a:r>
              <a:rPr lang="en-US" sz="1700" b="1" dirty="0">
                <a:solidFill>
                  <a:srgbClr val="E8C97A"/>
                </a:solidFill>
                <a:latin typeface="Cambria" pitchFamily="34" charset="0"/>
                <a:ea typeface="Cambria" pitchFamily="34" charset="-122"/>
                <a:cs typeface="Cambria" pitchFamily="34" charset="-120"/>
              </a:rPr>
              <a:t>$413B</a:t>
            </a:r>
            <a:endParaRPr lang="en-US" sz="1700" dirty="0"/>
          </a:p>
        </p:txBody>
      </p:sp>
      <p:sp>
        <p:nvSpPr>
          <p:cNvPr id="7" name="Text 4"/>
          <p:cNvSpPr/>
          <p:nvPr/>
        </p:nvSpPr>
        <p:spPr>
          <a:xfrm>
            <a:off x="502920" y="5830094"/>
            <a:ext cx="1261872" cy="274320"/>
          </a:xfrm>
          <a:prstGeom prst="rect">
            <a:avLst/>
          </a:prstGeom>
          <a:noFill/>
          <a:ln/>
        </p:spPr>
        <p:txBody>
          <a:bodyPr wrap="square" lIns="0" tIns="0" rIns="0" bIns="0" rtlCol="0" anchor="ctr"/>
          <a:lstStyle/>
          <a:p>
            <a:pPr algn="ctr" indent="0" marL="0">
              <a:buNone/>
            </a:pPr>
            <a:r>
              <a:rPr lang="en-US" sz="950" spc="100" kern="0" dirty="0">
                <a:solidFill>
                  <a:srgbClr val="AFC3DD"/>
                </a:solidFill>
                <a:latin typeface="Calibri" pitchFamily="34" charset="0"/>
                <a:ea typeface="Calibri" pitchFamily="34" charset="-122"/>
                <a:cs typeface="Calibri" pitchFamily="34" charset="-120"/>
              </a:rPr>
              <a:t>FUNDING</a:t>
            </a:r>
            <a:endParaRPr lang="en-US" sz="950" dirty="0"/>
          </a:p>
        </p:txBody>
      </p:sp>
      <p:sp>
        <p:nvSpPr>
          <p:cNvPr id="8" name="Text 5"/>
          <p:cNvSpPr/>
          <p:nvPr/>
        </p:nvSpPr>
        <p:spPr>
          <a:xfrm>
            <a:off x="1764792" y="5482622"/>
            <a:ext cx="1261872" cy="365760"/>
          </a:xfrm>
          <a:prstGeom prst="rect">
            <a:avLst/>
          </a:prstGeom>
          <a:noFill/>
          <a:ln/>
        </p:spPr>
        <p:txBody>
          <a:bodyPr wrap="square" lIns="0" tIns="0" rIns="0" bIns="0" rtlCol="0" anchor="ctr"/>
          <a:lstStyle/>
          <a:p>
            <a:pPr algn="ctr" indent="0" marL="0">
              <a:buNone/>
            </a:pPr>
            <a:r>
              <a:rPr lang="en-US" sz="1700" b="1" dirty="0">
                <a:solidFill>
                  <a:srgbClr val="E8C97A"/>
                </a:solidFill>
                <a:latin typeface="Cambria" pitchFamily="34" charset="0"/>
                <a:ea typeface="Cambria" pitchFamily="34" charset="-122"/>
                <a:cs typeface="Cambria" pitchFamily="34" charset="-120"/>
              </a:rPr>
              <a:t>196K</a:t>
            </a:r>
            <a:endParaRPr lang="en-US" sz="1700" dirty="0"/>
          </a:p>
        </p:txBody>
      </p:sp>
      <p:sp>
        <p:nvSpPr>
          <p:cNvPr id="9" name="Text 6"/>
          <p:cNvSpPr/>
          <p:nvPr/>
        </p:nvSpPr>
        <p:spPr>
          <a:xfrm>
            <a:off x="1764792" y="5830094"/>
            <a:ext cx="1261872" cy="274320"/>
          </a:xfrm>
          <a:prstGeom prst="rect">
            <a:avLst/>
          </a:prstGeom>
          <a:noFill/>
          <a:ln/>
        </p:spPr>
        <p:txBody>
          <a:bodyPr wrap="square" lIns="0" tIns="0" rIns="0" bIns="0" rtlCol="0" anchor="ctr"/>
          <a:lstStyle/>
          <a:p>
            <a:pPr algn="ctr" indent="0" marL="0">
              <a:buNone/>
            </a:pPr>
            <a:r>
              <a:rPr lang="en-US" sz="950" spc="100" kern="0" dirty="0">
                <a:solidFill>
                  <a:srgbClr val="AFC3DD"/>
                </a:solidFill>
                <a:latin typeface="Calibri" pitchFamily="34" charset="0"/>
                <a:ea typeface="Calibri" pitchFamily="34" charset="-122"/>
                <a:cs typeface="Calibri" pitchFamily="34" charset="-120"/>
              </a:rPr>
              <a:t>STARTUPS</a:t>
            </a:r>
            <a:endParaRPr lang="en-US" sz="950" dirty="0"/>
          </a:p>
        </p:txBody>
      </p:sp>
      <p:sp>
        <p:nvSpPr>
          <p:cNvPr id="10" name="Text 7"/>
          <p:cNvSpPr/>
          <p:nvPr/>
        </p:nvSpPr>
        <p:spPr>
          <a:xfrm>
            <a:off x="3026664" y="5482622"/>
            <a:ext cx="1261872" cy="365760"/>
          </a:xfrm>
          <a:prstGeom prst="rect">
            <a:avLst/>
          </a:prstGeom>
          <a:noFill/>
          <a:ln/>
        </p:spPr>
        <p:txBody>
          <a:bodyPr wrap="square" lIns="0" tIns="0" rIns="0" bIns="0" rtlCol="0" anchor="ctr"/>
          <a:lstStyle/>
          <a:p>
            <a:pPr algn="ctr" indent="0" marL="0">
              <a:buNone/>
            </a:pPr>
            <a:r>
              <a:rPr lang="en-US" sz="1700" b="1" dirty="0">
                <a:solidFill>
                  <a:srgbClr val="E8C97A"/>
                </a:solidFill>
                <a:latin typeface="Cambria" pitchFamily="34" charset="0"/>
                <a:ea typeface="Cambria" pitchFamily="34" charset="-122"/>
                <a:cs typeface="Cambria" pitchFamily="34" charset="-120"/>
              </a:rPr>
              <a:t>53K</a:t>
            </a:r>
            <a:endParaRPr lang="en-US" sz="1700" dirty="0"/>
          </a:p>
        </p:txBody>
      </p:sp>
      <p:sp>
        <p:nvSpPr>
          <p:cNvPr id="11" name="Text 8"/>
          <p:cNvSpPr/>
          <p:nvPr/>
        </p:nvSpPr>
        <p:spPr>
          <a:xfrm>
            <a:off x="3026664" y="5830094"/>
            <a:ext cx="1261872" cy="274320"/>
          </a:xfrm>
          <a:prstGeom prst="rect">
            <a:avLst/>
          </a:prstGeom>
          <a:noFill/>
          <a:ln/>
        </p:spPr>
        <p:txBody>
          <a:bodyPr wrap="square" lIns="0" tIns="0" rIns="0" bIns="0" rtlCol="0" anchor="ctr"/>
          <a:lstStyle/>
          <a:p>
            <a:pPr algn="ctr" indent="0" marL="0">
              <a:buNone/>
            </a:pPr>
            <a:r>
              <a:rPr lang="en-US" sz="950" spc="100" kern="0" dirty="0">
                <a:solidFill>
                  <a:srgbClr val="AFC3DD"/>
                </a:solidFill>
                <a:latin typeface="Calibri" pitchFamily="34" charset="0"/>
                <a:ea typeface="Calibri" pitchFamily="34" charset="-122"/>
                <a:cs typeface="Calibri" pitchFamily="34" charset="-120"/>
              </a:rPr>
              <a:t>ROUNDS</a:t>
            </a:r>
            <a:endParaRPr lang="en-US" sz="950" dirty="0"/>
          </a:p>
        </p:txBody>
      </p:sp>
      <p:sp>
        <p:nvSpPr>
          <p:cNvPr id="12" name="Text 9"/>
          <p:cNvSpPr/>
          <p:nvPr/>
        </p:nvSpPr>
        <p:spPr>
          <a:xfrm>
            <a:off x="4288536" y="5482622"/>
            <a:ext cx="1261872" cy="365760"/>
          </a:xfrm>
          <a:prstGeom prst="rect">
            <a:avLst/>
          </a:prstGeom>
          <a:noFill/>
          <a:ln/>
        </p:spPr>
        <p:txBody>
          <a:bodyPr wrap="square" lIns="0" tIns="0" rIns="0" bIns="0" rtlCol="0" anchor="ctr"/>
          <a:lstStyle/>
          <a:p>
            <a:pPr algn="ctr" indent="0" marL="0">
              <a:buNone/>
            </a:pPr>
            <a:r>
              <a:rPr lang="en-US" sz="1700" b="1" dirty="0">
                <a:solidFill>
                  <a:srgbClr val="E8C97A"/>
                </a:solidFill>
                <a:latin typeface="Cambria" pitchFamily="34" charset="0"/>
                <a:ea typeface="Cambria" pitchFamily="34" charset="-122"/>
                <a:cs typeface="Cambria" pitchFamily="34" charset="-120"/>
              </a:rPr>
              <a:t>1K</a:t>
            </a:r>
            <a:endParaRPr lang="en-US" sz="1700" dirty="0"/>
          </a:p>
        </p:txBody>
      </p:sp>
      <p:sp>
        <p:nvSpPr>
          <p:cNvPr id="13" name="Text 10"/>
          <p:cNvSpPr/>
          <p:nvPr/>
        </p:nvSpPr>
        <p:spPr>
          <a:xfrm>
            <a:off x="4288536" y="5830094"/>
            <a:ext cx="1261872" cy="274320"/>
          </a:xfrm>
          <a:prstGeom prst="rect">
            <a:avLst/>
          </a:prstGeom>
          <a:noFill/>
          <a:ln/>
        </p:spPr>
        <p:txBody>
          <a:bodyPr wrap="square" lIns="0" tIns="0" rIns="0" bIns="0" rtlCol="0" anchor="ctr"/>
          <a:lstStyle/>
          <a:p>
            <a:pPr algn="ctr" indent="0" marL="0">
              <a:buNone/>
            </a:pPr>
            <a:r>
              <a:rPr lang="en-US" sz="950" spc="100" kern="0" dirty="0">
                <a:solidFill>
                  <a:srgbClr val="AFC3DD"/>
                </a:solidFill>
                <a:latin typeface="Calibri" pitchFamily="34" charset="0"/>
                <a:ea typeface="Calibri" pitchFamily="34" charset="-122"/>
                <a:cs typeface="Calibri" pitchFamily="34" charset="-120"/>
              </a:rPr>
              <a:t>IPOS</a:t>
            </a:r>
            <a:endParaRPr lang="en-US" sz="950" dirty="0"/>
          </a:p>
        </p:txBody>
      </p:sp>
      <p:sp>
        <p:nvSpPr>
          <p:cNvPr id="14" name="Text 11"/>
          <p:cNvSpPr/>
          <p:nvPr/>
        </p:nvSpPr>
        <p:spPr>
          <a:xfrm>
            <a:off x="5550408" y="5482622"/>
            <a:ext cx="1261872" cy="365760"/>
          </a:xfrm>
          <a:prstGeom prst="rect">
            <a:avLst/>
          </a:prstGeom>
          <a:noFill/>
          <a:ln/>
        </p:spPr>
        <p:txBody>
          <a:bodyPr wrap="square" lIns="0" tIns="0" rIns="0" bIns="0" rtlCol="0" anchor="ctr"/>
          <a:lstStyle/>
          <a:p>
            <a:pPr algn="ctr" indent="0" marL="0">
              <a:buNone/>
            </a:pPr>
            <a:r>
              <a:rPr lang="en-US" sz="1700" b="1" dirty="0">
                <a:solidFill>
                  <a:srgbClr val="E8C97A"/>
                </a:solidFill>
                <a:latin typeface="Cambria" pitchFamily="34" charset="0"/>
                <a:ea typeface="Cambria" pitchFamily="34" charset="-122"/>
                <a:cs typeface="Cambria" pitchFamily="34" charset="-120"/>
              </a:rPr>
              <a:t>175</a:t>
            </a:r>
            <a:endParaRPr lang="en-US" sz="1700" dirty="0"/>
          </a:p>
        </p:txBody>
      </p:sp>
      <p:sp>
        <p:nvSpPr>
          <p:cNvPr id="15" name="Text 12"/>
          <p:cNvSpPr/>
          <p:nvPr/>
        </p:nvSpPr>
        <p:spPr>
          <a:xfrm>
            <a:off x="5550408" y="5830094"/>
            <a:ext cx="1261872" cy="274320"/>
          </a:xfrm>
          <a:prstGeom prst="rect">
            <a:avLst/>
          </a:prstGeom>
          <a:noFill/>
          <a:ln/>
        </p:spPr>
        <p:txBody>
          <a:bodyPr wrap="square" lIns="0" tIns="0" rIns="0" bIns="0" rtlCol="0" anchor="ctr"/>
          <a:lstStyle/>
          <a:p>
            <a:pPr algn="ctr" indent="0" marL="0">
              <a:buNone/>
            </a:pPr>
            <a:r>
              <a:rPr lang="en-US" sz="950" spc="100" kern="0" dirty="0">
                <a:solidFill>
                  <a:srgbClr val="AFC3DD"/>
                </a:solidFill>
                <a:latin typeface="Calibri" pitchFamily="34" charset="0"/>
                <a:ea typeface="Calibri" pitchFamily="34" charset="-122"/>
                <a:cs typeface="Calibri" pitchFamily="34" charset="-120"/>
              </a:rPr>
              <a:t>COUNTRIES</a:t>
            </a:r>
            <a:endParaRPr lang="en-US" sz="950" dirty="0"/>
          </a:p>
        </p:txBody>
      </p:sp>
      <p:sp>
        <p:nvSpPr>
          <p:cNvPr id="16" name="Text 13"/>
          <p:cNvSpPr/>
          <p:nvPr/>
        </p:nvSpPr>
        <p:spPr>
          <a:xfrm>
            <a:off x="7223760" y="1463040"/>
            <a:ext cx="4510735" cy="365760"/>
          </a:xfrm>
          <a:prstGeom prst="rect">
            <a:avLst/>
          </a:prstGeom>
          <a:noFill/>
          <a:ln/>
        </p:spPr>
        <p:txBody>
          <a:bodyPr wrap="square" lIns="0" tIns="0" rIns="0" bIns="0" rtlCol="0" anchor="ctr"/>
          <a:lstStyle/>
          <a:p>
            <a:pPr indent="0" marL="0">
              <a:buNone/>
            </a:pPr>
            <a:r>
              <a:rPr lang="en-US" sz="1500" b="1" dirty="0">
                <a:solidFill>
                  <a:srgbClr val="E8C97A"/>
                </a:solidFill>
                <a:latin typeface="Calibri" pitchFamily="34" charset="0"/>
                <a:ea typeface="Calibri" pitchFamily="34" charset="-122"/>
                <a:cs typeface="Calibri" pitchFamily="34" charset="-120"/>
              </a:rPr>
              <a:t>Reading the Table</a:t>
            </a:r>
            <a:endParaRPr lang="en-US" sz="1500" dirty="0"/>
          </a:p>
        </p:txBody>
      </p:sp>
      <p:sp>
        <p:nvSpPr>
          <p:cNvPr id="17" name="Text 14"/>
          <p:cNvSpPr/>
          <p:nvPr/>
        </p:nvSpPr>
        <p:spPr>
          <a:xfrm>
            <a:off x="7223760" y="1965960"/>
            <a:ext cx="4510735" cy="2011680"/>
          </a:xfrm>
          <a:prstGeom prst="rect">
            <a:avLst/>
          </a:prstGeom>
          <a:noFill/>
          <a:ln/>
        </p:spPr>
        <p:txBody>
          <a:bodyPr wrap="square" rtlCol="0" anchor="t"/>
          <a:lstStyle/>
          <a:p>
            <a:pPr indent="0" marL="0">
              <a:lnSpc>
                <a:spcPct val="125000"/>
              </a:lnSpc>
              <a:buNone/>
            </a:pPr>
            <a:r>
              <a:rPr lang="en-US" sz="1250" dirty="0">
                <a:solidFill>
                  <a:srgbClr val="AFC3DD"/>
                </a:solidFill>
                <a:latin typeface="Calibri" pitchFamily="34" charset="0"/>
                <a:ea typeface="Calibri" pitchFamily="34" charset="-122"/>
                <a:cs typeface="Calibri" pitchFamily="34" charset="-120"/>
              </a:rPr>
              <a:t>The drill-through page breaks every KPI down by category and country, ranking combinations by total funding, average ticket size, startup count, round volume, and operating status — letting analysts move from the headline numbers straight to the segment driving them.</a:t>
            </a:r>
            <a:endParaRPr lang="en-US" sz="1250" dirty="0"/>
          </a:p>
        </p:txBody>
      </p:sp>
      <p:sp>
        <p:nvSpPr>
          <p:cNvPr id="18" name="Shape 15"/>
          <p:cNvSpPr/>
          <p:nvPr/>
        </p:nvSpPr>
        <p:spPr>
          <a:xfrm>
            <a:off x="7223760" y="4114800"/>
            <a:ext cx="384048" cy="384048"/>
          </a:xfrm>
          <a:prstGeom prst="ellipse">
            <a:avLst/>
          </a:prstGeom>
          <a:solidFill>
            <a:srgbClr val="C99A3E"/>
          </a:solidFill>
          <a:ln/>
        </p:spPr>
      </p:sp>
      <p:pic>
        <p:nvPicPr>
          <p:cNvPr id="19" name="Image 1" descr="preencoded.png">    </p:cNvPr>
          <p:cNvPicPr>
            <a:picLocks noChangeAspect="1"/>
          </p:cNvPicPr>
          <p:nvPr/>
        </p:nvPicPr>
        <p:blipFill>
          <a:blip r:embed="rId2"/>
          <a:stretch>
            <a:fillRect/>
          </a:stretch>
        </p:blipFill>
        <p:spPr>
          <a:xfrm>
            <a:off x="7310171" y="4201211"/>
            <a:ext cx="211226" cy="211226"/>
          </a:xfrm>
          <a:prstGeom prst="rect">
            <a:avLst/>
          </a:prstGeom>
        </p:spPr>
      </p:pic>
      <p:sp>
        <p:nvSpPr>
          <p:cNvPr id="20" name="Text 16"/>
          <p:cNvSpPr/>
          <p:nvPr/>
        </p:nvSpPr>
        <p:spPr>
          <a:xfrm>
            <a:off x="7754112" y="4078224"/>
            <a:ext cx="3962095" cy="548640"/>
          </a:xfrm>
          <a:prstGeom prst="rect">
            <a:avLst/>
          </a:prstGeom>
          <a:noFill/>
          <a:ln/>
        </p:spPr>
        <p:txBody>
          <a:bodyPr wrap="square" rtlCol="0" anchor="ctr"/>
          <a:lstStyle/>
          <a:p>
            <a:pPr indent="0" marL="0">
              <a:lnSpc>
                <a:spcPct val="115000"/>
              </a:lnSpc>
              <a:buNone/>
            </a:pPr>
            <a:r>
              <a:rPr lang="en-US" sz="1100" dirty="0">
                <a:solidFill>
                  <a:srgbClr val="AFC3DD"/>
                </a:solidFill>
                <a:latin typeface="Calibri" pitchFamily="34" charset="0"/>
                <a:ea typeface="Calibri" pitchFamily="34" charset="-122"/>
                <a:cs typeface="Calibri" pitchFamily="34" charset="-120"/>
              </a:rPr>
              <a:t>Status segmentation: operating, acquired, closed, and IPO are tracked side by side for every record.</a:t>
            </a:r>
            <a:endParaRPr lang="en-US" sz="1100" dirty="0"/>
          </a:p>
        </p:txBody>
      </p:sp>
      <p:sp>
        <p:nvSpPr>
          <p:cNvPr id="21" name="Text 17"/>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8497B8"/>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22" name="Text 18"/>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8497B8"/>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640080" y="457200"/>
            <a:ext cx="10058400" cy="548640"/>
          </a:xfrm>
          <a:prstGeom prst="rect">
            <a:avLst/>
          </a:prstGeom>
          <a:noFill/>
          <a:ln/>
        </p:spPr>
        <p:txBody>
          <a:bodyPr wrap="square" lIns="0" tIns="0" rIns="0" bIns="0" rtlCol="0" anchor="ctr"/>
          <a:lstStyle/>
          <a:p>
            <a:pPr indent="0" marL="0">
              <a:buNone/>
            </a:pPr>
            <a:r>
              <a:rPr lang="en-US" sz="3000" b="1" dirty="0">
                <a:solidFill>
                  <a:srgbClr val="0B1E3D"/>
                </a:solidFill>
                <a:latin typeface="Cambria" pitchFamily="34" charset="0"/>
                <a:ea typeface="Cambria" pitchFamily="34" charset="-122"/>
                <a:cs typeface="Cambria" pitchFamily="34" charset="-120"/>
              </a:rPr>
              <a:t>Key Insights from the Data</a:t>
            </a:r>
            <a:endParaRPr lang="en-US" sz="3000" dirty="0"/>
          </a:p>
        </p:txBody>
      </p:sp>
      <p:sp>
        <p:nvSpPr>
          <p:cNvPr id="3" name="Text 1"/>
          <p:cNvSpPr/>
          <p:nvPr/>
        </p:nvSpPr>
        <p:spPr>
          <a:xfrm>
            <a:off x="640080" y="987552"/>
            <a:ext cx="10058400" cy="320040"/>
          </a:xfrm>
          <a:prstGeom prst="rect">
            <a:avLst/>
          </a:prstGeom>
          <a:noFill/>
          <a:ln/>
        </p:spPr>
        <p:txBody>
          <a:bodyPr wrap="square" rtlCol="0" anchor="ctr"/>
          <a:lstStyle/>
          <a:p>
            <a:pPr indent="0" marL="0">
              <a:buNone/>
            </a:pPr>
            <a:r>
              <a:rPr lang="en-US" sz="1250" i="1" dirty="0">
                <a:solidFill>
                  <a:srgbClr val="65718A"/>
                </a:solidFill>
                <a:latin typeface="Calibri" pitchFamily="34" charset="0"/>
                <a:ea typeface="Calibri" pitchFamily="34" charset="-122"/>
                <a:cs typeface="Calibri" pitchFamily="34" charset="-120"/>
              </a:rPr>
              <a:t>Computed directly from the underlying Crunchbase records</a:t>
            </a:r>
            <a:endParaRPr lang="en-US" sz="1250" dirty="0"/>
          </a:p>
        </p:txBody>
      </p:sp>
      <p:sp>
        <p:nvSpPr>
          <p:cNvPr id="4" name="Text 2"/>
          <p:cNvSpPr/>
          <p:nvPr/>
        </p:nvSpPr>
        <p:spPr>
          <a:xfrm>
            <a:off x="640080" y="1463040"/>
            <a:ext cx="5394960" cy="365760"/>
          </a:xfrm>
          <a:prstGeom prst="rect">
            <a:avLst/>
          </a:prstGeom>
          <a:noFill/>
          <a:ln/>
        </p:spPr>
        <p:txBody>
          <a:bodyPr wrap="square" lIns="0" tIns="0" rIns="0" bIns="0" rtlCol="0" anchor="ctr"/>
          <a:lstStyle/>
          <a:p>
            <a:pPr indent="0" marL="0">
              <a:buNone/>
            </a:pPr>
            <a:r>
              <a:rPr lang="en-US" sz="1400" b="1" dirty="0">
                <a:solidFill>
                  <a:srgbClr val="132A4F"/>
                </a:solidFill>
                <a:latin typeface="Calibri" pitchFamily="34" charset="0"/>
                <a:ea typeface="Calibri" pitchFamily="34" charset="-122"/>
                <a:cs typeface="Calibri" pitchFamily="34" charset="-120"/>
              </a:rPr>
              <a:t>Top Categories by Total Funding ($B)</a:t>
            </a:r>
            <a:endParaRPr lang="en-US" sz="1400" dirty="0"/>
          </a:p>
        </p:txBody>
      </p:sp>
      <p:graphicFrame>
        <p:nvGraphicFramePr>
          <p:cNvPr id="5" name="Chart 0" descr=""/>
          <p:cNvGraphicFramePr/>
          <p:nvPr/>
        </p:nvGraphicFramePr>
        <p:xfrm>
          <a:off x="548640" y="182880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1463040"/>
            <a:ext cx="5212080" cy="365760"/>
          </a:xfrm>
          <a:prstGeom prst="rect">
            <a:avLst/>
          </a:prstGeom>
          <a:noFill/>
          <a:ln/>
        </p:spPr>
        <p:txBody>
          <a:bodyPr wrap="square" lIns="0" tIns="0" rIns="0" bIns="0" rtlCol="0" anchor="ctr"/>
          <a:lstStyle/>
          <a:p>
            <a:pPr indent="0" marL="0">
              <a:buNone/>
            </a:pPr>
            <a:r>
              <a:rPr lang="en-US" sz="1400" b="1" dirty="0">
                <a:solidFill>
                  <a:srgbClr val="132A4F"/>
                </a:solidFill>
                <a:latin typeface="Calibri" pitchFamily="34" charset="0"/>
                <a:ea typeface="Calibri" pitchFamily="34" charset="-122"/>
                <a:cs typeface="Calibri" pitchFamily="34" charset="-120"/>
              </a:rPr>
              <a:t>Top Countries by Total Funding ($B)</a:t>
            </a:r>
            <a:endParaRPr lang="en-US" sz="1400" dirty="0"/>
          </a:p>
        </p:txBody>
      </p:sp>
      <p:graphicFrame>
        <p:nvGraphicFramePr>
          <p:cNvPr id="7" name="Chart 1" descr=""/>
          <p:cNvGraphicFramePr/>
          <p:nvPr/>
        </p:nvGraphicFramePr>
        <p:xfrm>
          <a:off x="6309360" y="1828800"/>
          <a:ext cx="5303520" cy="42062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65718A"/>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9" name="Text 5"/>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65718A"/>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a:ln/>
        </p:spPr>
        <p:txBody>
          <a:bodyPr wrap="square" lIns="0" tIns="0" rIns="0" bIns="0" rtlCol="0" anchor="ctr"/>
          <a:lstStyle/>
          <a:p>
            <a:pPr indent="0" marL="0">
              <a:buNone/>
            </a:pPr>
            <a:r>
              <a:rPr lang="en-US" sz="2800" b="1" dirty="0">
                <a:solidFill>
                  <a:srgbClr val="0B1E3D"/>
                </a:solidFill>
                <a:latin typeface="Cambria" pitchFamily="34" charset="0"/>
                <a:ea typeface="Cambria" pitchFamily="34" charset="-122"/>
                <a:cs typeface="Cambria" pitchFamily="34" charset="-120"/>
              </a:rPr>
              <a:t>Tools, Technologies &amp; Advanced Features</a:t>
            </a:r>
            <a:endParaRPr lang="en-US" sz="2800" dirty="0"/>
          </a:p>
        </p:txBody>
      </p:sp>
      <p:sp>
        <p:nvSpPr>
          <p:cNvPr id="3" name="Text 1"/>
          <p:cNvSpPr/>
          <p:nvPr/>
        </p:nvSpPr>
        <p:spPr>
          <a:xfrm>
            <a:off x="640080" y="1325880"/>
            <a:ext cx="5029200" cy="365760"/>
          </a:xfrm>
          <a:prstGeom prst="rect">
            <a:avLst/>
          </a:prstGeom>
          <a:noFill/>
          <a:ln/>
        </p:spPr>
        <p:txBody>
          <a:bodyPr wrap="square" lIns="0" tIns="0" rIns="0" bIns="0" rtlCol="0" anchor="ctr"/>
          <a:lstStyle/>
          <a:p>
            <a:pPr indent="0" marL="0">
              <a:buNone/>
            </a:pPr>
            <a:r>
              <a:rPr lang="en-US" sz="1600" b="1" dirty="0">
                <a:solidFill>
                  <a:srgbClr val="132A4F"/>
                </a:solidFill>
                <a:latin typeface="Calibri" pitchFamily="34" charset="0"/>
                <a:ea typeface="Calibri" pitchFamily="34" charset="-122"/>
                <a:cs typeface="Calibri" pitchFamily="34" charset="-120"/>
              </a:rPr>
              <a:t>Core Tools</a:t>
            </a:r>
            <a:endParaRPr lang="en-US" sz="1600" dirty="0"/>
          </a:p>
        </p:txBody>
      </p:sp>
      <p:sp>
        <p:nvSpPr>
          <p:cNvPr id="4" name="Shape 2"/>
          <p:cNvSpPr/>
          <p:nvPr/>
        </p:nvSpPr>
        <p:spPr>
          <a:xfrm>
            <a:off x="640080" y="1828800"/>
            <a:ext cx="1691640" cy="1371600"/>
          </a:xfrm>
          <a:prstGeom prst="roundRect">
            <a:avLst>
              <a:gd name="adj" fmla="val 6667"/>
            </a:avLst>
          </a:prstGeom>
          <a:solidFill>
            <a:srgbClr val="FFFFFF"/>
          </a:solidFill>
          <a:ln/>
          <a:effectLst>
            <a:outerShdw sx="100000" sy="100000" kx="0" ky="0" algn="bl" rotWithShape="0" blurRad="101600" dist="38100" dir="2700000">
              <a:srgbClr val="0B1E3D">
                <a:alpha val="18000"/>
              </a:srgbClr>
            </a:outerShdw>
          </a:effectLst>
        </p:spPr>
      </p:sp>
      <p:pic>
        <p:nvPicPr>
          <p:cNvPr id="5" name="Image 0" descr="preencoded.png">    </p:cNvPr>
          <p:cNvPicPr>
            <a:picLocks noChangeAspect="1"/>
          </p:cNvPicPr>
          <p:nvPr/>
        </p:nvPicPr>
        <p:blipFill>
          <a:blip r:embed="rId1"/>
          <a:stretch>
            <a:fillRect/>
          </a:stretch>
        </p:blipFill>
        <p:spPr>
          <a:xfrm>
            <a:off x="1229868" y="2029968"/>
            <a:ext cx="512064" cy="512064"/>
          </a:xfrm>
          <a:prstGeom prst="rect">
            <a:avLst/>
          </a:prstGeom>
        </p:spPr>
      </p:pic>
      <p:sp>
        <p:nvSpPr>
          <p:cNvPr id="6" name="Text 3"/>
          <p:cNvSpPr/>
          <p:nvPr/>
        </p:nvSpPr>
        <p:spPr>
          <a:xfrm>
            <a:off x="685800" y="2670048"/>
            <a:ext cx="1600200" cy="457200"/>
          </a:xfrm>
          <a:prstGeom prst="rect">
            <a:avLst/>
          </a:prstGeom>
          <a:noFill/>
          <a:ln/>
        </p:spPr>
        <p:txBody>
          <a:bodyPr wrap="square" lIns="0" tIns="0" rIns="0" bIns="0" rtlCol="0" anchor="t"/>
          <a:lstStyle/>
          <a:p>
            <a:pPr algn="ctr" indent="0" marL="0">
              <a:buNone/>
            </a:pPr>
            <a:r>
              <a:rPr lang="en-US" sz="1150" b="1" dirty="0">
                <a:solidFill>
                  <a:srgbClr val="1B2436"/>
                </a:solidFill>
                <a:latin typeface="Calibri" pitchFamily="34" charset="0"/>
                <a:ea typeface="Calibri" pitchFamily="34" charset="-122"/>
                <a:cs typeface="Calibri" pitchFamily="34" charset="-120"/>
              </a:rPr>
              <a:t>Power BI</a:t>
            </a:r>
            <a:endParaRPr lang="en-US" sz="1150" dirty="0"/>
          </a:p>
        </p:txBody>
      </p:sp>
      <p:sp>
        <p:nvSpPr>
          <p:cNvPr id="7" name="Shape 4"/>
          <p:cNvSpPr/>
          <p:nvPr/>
        </p:nvSpPr>
        <p:spPr>
          <a:xfrm>
            <a:off x="2468880" y="1828800"/>
            <a:ext cx="1691640" cy="1371600"/>
          </a:xfrm>
          <a:prstGeom prst="roundRect">
            <a:avLst>
              <a:gd name="adj" fmla="val 6667"/>
            </a:avLst>
          </a:prstGeom>
          <a:solidFill>
            <a:srgbClr val="FFFFFF"/>
          </a:solidFill>
          <a:ln/>
          <a:effectLst>
            <a:outerShdw sx="100000" sy="100000" kx="0" ky="0" algn="bl" rotWithShape="0" blurRad="101600" dist="38100" dir="2700000">
              <a:srgbClr val="0B1E3D">
                <a:alpha val="18000"/>
              </a:srgbClr>
            </a:outerShdw>
          </a:effectLst>
        </p:spPr>
      </p:sp>
      <p:pic>
        <p:nvPicPr>
          <p:cNvPr id="8" name="Image 1" descr="preencoded.png">    </p:cNvPr>
          <p:cNvPicPr>
            <a:picLocks noChangeAspect="1"/>
          </p:cNvPicPr>
          <p:nvPr/>
        </p:nvPicPr>
        <p:blipFill>
          <a:blip r:embed="rId2"/>
          <a:stretch>
            <a:fillRect/>
          </a:stretch>
        </p:blipFill>
        <p:spPr>
          <a:xfrm>
            <a:off x="3058668" y="2029968"/>
            <a:ext cx="512064" cy="512064"/>
          </a:xfrm>
          <a:prstGeom prst="rect">
            <a:avLst/>
          </a:prstGeom>
        </p:spPr>
      </p:pic>
      <p:sp>
        <p:nvSpPr>
          <p:cNvPr id="9" name="Text 5"/>
          <p:cNvSpPr/>
          <p:nvPr/>
        </p:nvSpPr>
        <p:spPr>
          <a:xfrm>
            <a:off x="2514600" y="2670048"/>
            <a:ext cx="1600200" cy="457200"/>
          </a:xfrm>
          <a:prstGeom prst="rect">
            <a:avLst/>
          </a:prstGeom>
          <a:noFill/>
          <a:ln/>
        </p:spPr>
        <p:txBody>
          <a:bodyPr wrap="square" lIns="0" tIns="0" rIns="0" bIns="0" rtlCol="0" anchor="t"/>
          <a:lstStyle/>
          <a:p>
            <a:pPr algn="ctr" indent="0" marL="0">
              <a:buNone/>
            </a:pPr>
            <a:r>
              <a:rPr lang="en-US" sz="1150" b="1" dirty="0">
                <a:solidFill>
                  <a:srgbClr val="1B2436"/>
                </a:solidFill>
                <a:latin typeface="Calibri" pitchFamily="34" charset="0"/>
                <a:ea typeface="Calibri" pitchFamily="34" charset="-122"/>
                <a:cs typeface="Calibri" pitchFamily="34" charset="-120"/>
              </a:rPr>
              <a:t>Power Query</a:t>
            </a:r>
            <a:endParaRPr lang="en-US" sz="1150" dirty="0"/>
          </a:p>
        </p:txBody>
      </p:sp>
      <p:sp>
        <p:nvSpPr>
          <p:cNvPr id="10" name="Shape 6"/>
          <p:cNvSpPr/>
          <p:nvPr/>
        </p:nvSpPr>
        <p:spPr>
          <a:xfrm>
            <a:off x="4297680" y="1828800"/>
            <a:ext cx="1691640" cy="1371600"/>
          </a:xfrm>
          <a:prstGeom prst="roundRect">
            <a:avLst>
              <a:gd name="adj" fmla="val 6667"/>
            </a:avLst>
          </a:prstGeom>
          <a:solidFill>
            <a:srgbClr val="FFFFFF"/>
          </a:solidFill>
          <a:ln/>
          <a:effectLst>
            <a:outerShdw sx="100000" sy="100000" kx="0" ky="0" algn="bl" rotWithShape="0" blurRad="101600" dist="38100" dir="2700000">
              <a:srgbClr val="0B1E3D">
                <a:alpha val="18000"/>
              </a:srgbClr>
            </a:outerShdw>
          </a:effectLst>
        </p:spPr>
      </p:sp>
      <p:pic>
        <p:nvPicPr>
          <p:cNvPr id="11" name="Image 2" descr="preencoded.png">    </p:cNvPr>
          <p:cNvPicPr>
            <a:picLocks noChangeAspect="1"/>
          </p:cNvPicPr>
          <p:nvPr/>
        </p:nvPicPr>
        <p:blipFill>
          <a:blip r:embed="rId3"/>
          <a:stretch>
            <a:fillRect/>
          </a:stretch>
        </p:blipFill>
        <p:spPr>
          <a:xfrm>
            <a:off x="4887468" y="2029968"/>
            <a:ext cx="512064" cy="512064"/>
          </a:xfrm>
          <a:prstGeom prst="rect">
            <a:avLst/>
          </a:prstGeom>
        </p:spPr>
      </p:pic>
      <p:sp>
        <p:nvSpPr>
          <p:cNvPr id="12" name="Text 7"/>
          <p:cNvSpPr/>
          <p:nvPr/>
        </p:nvSpPr>
        <p:spPr>
          <a:xfrm>
            <a:off x="4343400" y="2670048"/>
            <a:ext cx="1600200" cy="457200"/>
          </a:xfrm>
          <a:prstGeom prst="rect">
            <a:avLst/>
          </a:prstGeom>
          <a:noFill/>
          <a:ln/>
        </p:spPr>
        <p:txBody>
          <a:bodyPr wrap="square" lIns="0" tIns="0" rIns="0" bIns="0" rtlCol="0" anchor="t"/>
          <a:lstStyle/>
          <a:p>
            <a:pPr algn="ctr" indent="0" marL="0">
              <a:buNone/>
            </a:pPr>
            <a:r>
              <a:rPr lang="en-US" sz="1150" b="1" dirty="0">
                <a:solidFill>
                  <a:srgbClr val="1B2436"/>
                </a:solidFill>
                <a:latin typeface="Calibri" pitchFamily="34" charset="0"/>
                <a:ea typeface="Calibri" pitchFamily="34" charset="-122"/>
                <a:cs typeface="Calibri" pitchFamily="34" charset="-120"/>
              </a:rPr>
              <a:t>DAX</a:t>
            </a:r>
            <a:endParaRPr lang="en-US" sz="1150" dirty="0"/>
          </a:p>
        </p:txBody>
      </p:sp>
      <p:sp>
        <p:nvSpPr>
          <p:cNvPr id="13" name="Shape 8"/>
          <p:cNvSpPr/>
          <p:nvPr/>
        </p:nvSpPr>
        <p:spPr>
          <a:xfrm>
            <a:off x="640080" y="3337560"/>
            <a:ext cx="1691640" cy="1371600"/>
          </a:xfrm>
          <a:prstGeom prst="roundRect">
            <a:avLst>
              <a:gd name="adj" fmla="val 6667"/>
            </a:avLst>
          </a:prstGeom>
          <a:solidFill>
            <a:srgbClr val="FFFFFF"/>
          </a:solidFill>
          <a:ln/>
          <a:effectLst>
            <a:outerShdw sx="100000" sy="100000" kx="0" ky="0" algn="bl" rotWithShape="0" blurRad="101600" dist="38100" dir="2700000">
              <a:srgbClr val="0B1E3D">
                <a:alpha val="18000"/>
              </a:srgbClr>
            </a:outerShdw>
          </a:effectLst>
        </p:spPr>
      </p:sp>
      <p:pic>
        <p:nvPicPr>
          <p:cNvPr id="14" name="Image 3" descr="preencoded.png">    </p:cNvPr>
          <p:cNvPicPr>
            <a:picLocks noChangeAspect="1"/>
          </p:cNvPicPr>
          <p:nvPr/>
        </p:nvPicPr>
        <p:blipFill>
          <a:blip r:embed="rId4"/>
          <a:stretch>
            <a:fillRect/>
          </a:stretch>
        </p:blipFill>
        <p:spPr>
          <a:xfrm>
            <a:off x="1229868" y="3538728"/>
            <a:ext cx="512064" cy="512064"/>
          </a:xfrm>
          <a:prstGeom prst="rect">
            <a:avLst/>
          </a:prstGeom>
        </p:spPr>
      </p:pic>
      <p:sp>
        <p:nvSpPr>
          <p:cNvPr id="15" name="Text 9"/>
          <p:cNvSpPr/>
          <p:nvPr/>
        </p:nvSpPr>
        <p:spPr>
          <a:xfrm>
            <a:off x="685800" y="4178808"/>
            <a:ext cx="1600200" cy="457200"/>
          </a:xfrm>
          <a:prstGeom prst="rect">
            <a:avLst/>
          </a:prstGeom>
          <a:noFill/>
          <a:ln/>
        </p:spPr>
        <p:txBody>
          <a:bodyPr wrap="square" lIns="0" tIns="0" rIns="0" bIns="0" rtlCol="0" anchor="t"/>
          <a:lstStyle/>
          <a:p>
            <a:pPr algn="ctr" indent="0" marL="0">
              <a:buNone/>
            </a:pPr>
            <a:r>
              <a:rPr lang="en-US" sz="1150" b="1" dirty="0">
                <a:solidFill>
                  <a:srgbClr val="1B2436"/>
                </a:solidFill>
                <a:latin typeface="Calibri" pitchFamily="34" charset="0"/>
                <a:ea typeface="Calibri" pitchFamily="34" charset="-122"/>
                <a:cs typeface="Calibri" pitchFamily="34" charset="-120"/>
              </a:rPr>
              <a:t>Microsoft Excel</a:t>
            </a:r>
            <a:endParaRPr lang="en-US" sz="1150" dirty="0"/>
          </a:p>
        </p:txBody>
      </p:sp>
      <p:sp>
        <p:nvSpPr>
          <p:cNvPr id="16" name="Shape 10"/>
          <p:cNvSpPr/>
          <p:nvPr/>
        </p:nvSpPr>
        <p:spPr>
          <a:xfrm>
            <a:off x="2468880" y="3337560"/>
            <a:ext cx="1691640" cy="1371600"/>
          </a:xfrm>
          <a:prstGeom prst="roundRect">
            <a:avLst>
              <a:gd name="adj" fmla="val 6667"/>
            </a:avLst>
          </a:prstGeom>
          <a:solidFill>
            <a:srgbClr val="FFFFFF"/>
          </a:solidFill>
          <a:ln/>
          <a:effectLst>
            <a:outerShdw sx="100000" sy="100000" kx="0" ky="0" algn="bl" rotWithShape="0" blurRad="101600" dist="38100" dir="2700000">
              <a:srgbClr val="0B1E3D">
                <a:alpha val="18000"/>
              </a:srgbClr>
            </a:outerShdw>
          </a:effectLst>
        </p:spPr>
      </p:sp>
      <p:pic>
        <p:nvPicPr>
          <p:cNvPr id="17" name="Image 4" descr="preencoded.png">    </p:cNvPr>
          <p:cNvPicPr>
            <a:picLocks noChangeAspect="1"/>
          </p:cNvPicPr>
          <p:nvPr/>
        </p:nvPicPr>
        <p:blipFill>
          <a:blip r:embed="rId5"/>
          <a:stretch>
            <a:fillRect/>
          </a:stretch>
        </p:blipFill>
        <p:spPr>
          <a:xfrm>
            <a:off x="3058668" y="3538728"/>
            <a:ext cx="512064" cy="512064"/>
          </a:xfrm>
          <a:prstGeom prst="rect">
            <a:avLst/>
          </a:prstGeom>
        </p:spPr>
      </p:pic>
      <p:sp>
        <p:nvSpPr>
          <p:cNvPr id="18" name="Text 11"/>
          <p:cNvSpPr/>
          <p:nvPr/>
        </p:nvSpPr>
        <p:spPr>
          <a:xfrm>
            <a:off x="2514600" y="4178808"/>
            <a:ext cx="1600200" cy="457200"/>
          </a:xfrm>
          <a:prstGeom prst="rect">
            <a:avLst/>
          </a:prstGeom>
          <a:noFill/>
          <a:ln/>
        </p:spPr>
        <p:txBody>
          <a:bodyPr wrap="square" lIns="0" tIns="0" rIns="0" bIns="0" rtlCol="0" anchor="t"/>
          <a:lstStyle/>
          <a:p>
            <a:pPr algn="ctr" indent="0" marL="0">
              <a:buNone/>
            </a:pPr>
            <a:r>
              <a:rPr lang="en-US" sz="1150" b="1" dirty="0">
                <a:solidFill>
                  <a:srgbClr val="1B2436"/>
                </a:solidFill>
                <a:latin typeface="Calibri" pitchFamily="34" charset="0"/>
                <a:ea typeface="Calibri" pitchFamily="34" charset="-122"/>
                <a:cs typeface="Calibri" pitchFamily="34" charset="-120"/>
              </a:rPr>
              <a:t>CSV Data Sources</a:t>
            </a:r>
            <a:endParaRPr lang="en-US" sz="1150" dirty="0"/>
          </a:p>
        </p:txBody>
      </p:sp>
      <p:sp>
        <p:nvSpPr>
          <p:cNvPr id="19" name="Shape 12"/>
          <p:cNvSpPr/>
          <p:nvPr/>
        </p:nvSpPr>
        <p:spPr>
          <a:xfrm>
            <a:off x="4297680" y="3337560"/>
            <a:ext cx="1691640" cy="1371600"/>
          </a:xfrm>
          <a:prstGeom prst="roundRect">
            <a:avLst>
              <a:gd name="adj" fmla="val 6667"/>
            </a:avLst>
          </a:prstGeom>
          <a:solidFill>
            <a:srgbClr val="FFFFFF"/>
          </a:solidFill>
          <a:ln/>
          <a:effectLst>
            <a:outerShdw sx="100000" sy="100000" kx="0" ky="0" algn="bl" rotWithShape="0" blurRad="101600" dist="38100" dir="2700000">
              <a:srgbClr val="0B1E3D">
                <a:alpha val="18000"/>
              </a:srgbClr>
            </a:outerShdw>
          </a:effectLst>
        </p:spPr>
      </p:sp>
      <p:pic>
        <p:nvPicPr>
          <p:cNvPr id="20" name="Image 5" descr="preencoded.png">    </p:cNvPr>
          <p:cNvPicPr>
            <a:picLocks noChangeAspect="1"/>
          </p:cNvPicPr>
          <p:nvPr/>
        </p:nvPicPr>
        <p:blipFill>
          <a:blip r:embed="rId6"/>
          <a:stretch>
            <a:fillRect/>
          </a:stretch>
        </p:blipFill>
        <p:spPr>
          <a:xfrm>
            <a:off x="4887468" y="3538728"/>
            <a:ext cx="512064" cy="512064"/>
          </a:xfrm>
          <a:prstGeom prst="rect">
            <a:avLst/>
          </a:prstGeom>
        </p:spPr>
      </p:pic>
      <p:sp>
        <p:nvSpPr>
          <p:cNvPr id="21" name="Text 13"/>
          <p:cNvSpPr/>
          <p:nvPr/>
        </p:nvSpPr>
        <p:spPr>
          <a:xfrm>
            <a:off x="4343400" y="4178808"/>
            <a:ext cx="1600200" cy="457200"/>
          </a:xfrm>
          <a:prstGeom prst="rect">
            <a:avLst/>
          </a:prstGeom>
          <a:noFill/>
          <a:ln/>
        </p:spPr>
        <p:txBody>
          <a:bodyPr wrap="square" lIns="0" tIns="0" rIns="0" bIns="0" rtlCol="0" anchor="t"/>
          <a:lstStyle/>
          <a:p>
            <a:pPr algn="ctr" indent="0" marL="0">
              <a:buNone/>
            </a:pPr>
            <a:r>
              <a:rPr lang="en-US" sz="1150" b="1" dirty="0">
                <a:solidFill>
                  <a:srgbClr val="1B2436"/>
                </a:solidFill>
                <a:latin typeface="Calibri" pitchFamily="34" charset="0"/>
                <a:ea typeface="Calibri" pitchFamily="34" charset="-122"/>
                <a:cs typeface="Calibri" pitchFamily="34" charset="-120"/>
              </a:rPr>
              <a:t>SQL (optional)</a:t>
            </a:r>
            <a:endParaRPr lang="en-US" sz="1150" dirty="0"/>
          </a:p>
        </p:txBody>
      </p:sp>
      <p:sp>
        <p:nvSpPr>
          <p:cNvPr id="22" name="Text 14"/>
          <p:cNvSpPr/>
          <p:nvPr/>
        </p:nvSpPr>
        <p:spPr>
          <a:xfrm>
            <a:off x="6355080" y="1325880"/>
            <a:ext cx="5212080" cy="365760"/>
          </a:xfrm>
          <a:prstGeom prst="rect">
            <a:avLst/>
          </a:prstGeom>
          <a:noFill/>
          <a:ln/>
        </p:spPr>
        <p:txBody>
          <a:bodyPr wrap="square" lIns="0" tIns="0" rIns="0" bIns="0" rtlCol="0" anchor="ctr"/>
          <a:lstStyle/>
          <a:p>
            <a:pPr indent="0" marL="0">
              <a:buNone/>
            </a:pPr>
            <a:r>
              <a:rPr lang="en-US" sz="1600" b="1" dirty="0">
                <a:solidFill>
                  <a:srgbClr val="132A4F"/>
                </a:solidFill>
                <a:latin typeface="Calibri" pitchFamily="34" charset="0"/>
                <a:ea typeface="Calibri" pitchFamily="34" charset="-122"/>
                <a:cs typeface="Calibri" pitchFamily="34" charset="-120"/>
              </a:rPr>
              <a:t>Advanced Power BI Features</a:t>
            </a:r>
            <a:endParaRPr lang="en-US" sz="1600" dirty="0"/>
          </a:p>
        </p:txBody>
      </p:sp>
      <p:sp>
        <p:nvSpPr>
          <p:cNvPr id="23" name="Shape 15"/>
          <p:cNvSpPr/>
          <p:nvPr/>
        </p:nvSpPr>
        <p:spPr>
          <a:xfrm>
            <a:off x="6355080" y="1828800"/>
            <a:ext cx="420624" cy="420624"/>
          </a:xfrm>
          <a:prstGeom prst="ellipse">
            <a:avLst/>
          </a:prstGeom>
          <a:solidFill>
            <a:srgbClr val="0B1E3D"/>
          </a:solidFill>
          <a:ln/>
        </p:spPr>
      </p:sp>
      <p:pic>
        <p:nvPicPr>
          <p:cNvPr id="24" name="Image 6" descr="preencoded.png">    </p:cNvPr>
          <p:cNvPicPr>
            <a:picLocks noChangeAspect="1"/>
          </p:cNvPicPr>
          <p:nvPr/>
        </p:nvPicPr>
        <p:blipFill>
          <a:blip r:embed="rId7"/>
          <a:stretch>
            <a:fillRect/>
          </a:stretch>
        </p:blipFill>
        <p:spPr>
          <a:xfrm>
            <a:off x="6428232" y="1901952"/>
            <a:ext cx="274320" cy="274320"/>
          </a:xfrm>
          <a:prstGeom prst="rect">
            <a:avLst/>
          </a:prstGeom>
        </p:spPr>
      </p:pic>
      <p:sp>
        <p:nvSpPr>
          <p:cNvPr id="25" name="Text 16"/>
          <p:cNvSpPr/>
          <p:nvPr/>
        </p:nvSpPr>
        <p:spPr>
          <a:xfrm>
            <a:off x="6309360" y="228600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KPI Cards</a:t>
            </a:r>
            <a:endParaRPr lang="en-US" sz="1050" dirty="0"/>
          </a:p>
        </p:txBody>
      </p:sp>
      <p:sp>
        <p:nvSpPr>
          <p:cNvPr id="26" name="Shape 17"/>
          <p:cNvSpPr/>
          <p:nvPr/>
        </p:nvSpPr>
        <p:spPr>
          <a:xfrm>
            <a:off x="8138160" y="1828800"/>
            <a:ext cx="420624" cy="420624"/>
          </a:xfrm>
          <a:prstGeom prst="ellipse">
            <a:avLst/>
          </a:prstGeom>
          <a:solidFill>
            <a:srgbClr val="0B1E3D"/>
          </a:solidFill>
          <a:ln/>
        </p:spPr>
      </p:sp>
      <p:pic>
        <p:nvPicPr>
          <p:cNvPr id="27" name="Image 7" descr="preencoded.png">    </p:cNvPr>
          <p:cNvPicPr>
            <a:picLocks noChangeAspect="1"/>
          </p:cNvPicPr>
          <p:nvPr/>
        </p:nvPicPr>
        <p:blipFill>
          <a:blip r:embed="rId8"/>
          <a:stretch>
            <a:fillRect/>
          </a:stretch>
        </p:blipFill>
        <p:spPr>
          <a:xfrm>
            <a:off x="8211312" y="1901952"/>
            <a:ext cx="274320" cy="274320"/>
          </a:xfrm>
          <a:prstGeom prst="rect">
            <a:avLst/>
          </a:prstGeom>
        </p:spPr>
      </p:pic>
      <p:sp>
        <p:nvSpPr>
          <p:cNvPr id="28" name="Text 18"/>
          <p:cNvSpPr/>
          <p:nvPr/>
        </p:nvSpPr>
        <p:spPr>
          <a:xfrm>
            <a:off x="8092440" y="228600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Dynamic Titles</a:t>
            </a:r>
            <a:endParaRPr lang="en-US" sz="1050" dirty="0"/>
          </a:p>
        </p:txBody>
      </p:sp>
      <p:sp>
        <p:nvSpPr>
          <p:cNvPr id="29" name="Shape 19"/>
          <p:cNvSpPr/>
          <p:nvPr/>
        </p:nvSpPr>
        <p:spPr>
          <a:xfrm>
            <a:off x="9921240" y="1828800"/>
            <a:ext cx="420624" cy="420624"/>
          </a:xfrm>
          <a:prstGeom prst="ellipse">
            <a:avLst/>
          </a:prstGeom>
          <a:solidFill>
            <a:srgbClr val="0B1E3D"/>
          </a:solidFill>
          <a:ln/>
        </p:spPr>
      </p:sp>
      <p:pic>
        <p:nvPicPr>
          <p:cNvPr id="30" name="Image 8" descr="preencoded.png">    </p:cNvPr>
          <p:cNvPicPr>
            <a:picLocks noChangeAspect="1"/>
          </p:cNvPicPr>
          <p:nvPr/>
        </p:nvPicPr>
        <p:blipFill>
          <a:blip r:embed="rId9"/>
          <a:stretch>
            <a:fillRect/>
          </a:stretch>
        </p:blipFill>
        <p:spPr>
          <a:xfrm>
            <a:off x="9994392" y="1901952"/>
            <a:ext cx="274320" cy="274320"/>
          </a:xfrm>
          <a:prstGeom prst="rect">
            <a:avLst/>
          </a:prstGeom>
        </p:spPr>
      </p:pic>
      <p:sp>
        <p:nvSpPr>
          <p:cNvPr id="31" name="Text 20"/>
          <p:cNvSpPr/>
          <p:nvPr/>
        </p:nvSpPr>
        <p:spPr>
          <a:xfrm>
            <a:off x="9875520" y="228600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Drill Through</a:t>
            </a:r>
            <a:endParaRPr lang="en-US" sz="1050" dirty="0"/>
          </a:p>
        </p:txBody>
      </p:sp>
      <p:sp>
        <p:nvSpPr>
          <p:cNvPr id="32" name="Shape 21"/>
          <p:cNvSpPr/>
          <p:nvPr/>
        </p:nvSpPr>
        <p:spPr>
          <a:xfrm>
            <a:off x="6355080" y="2788920"/>
            <a:ext cx="420624" cy="420624"/>
          </a:xfrm>
          <a:prstGeom prst="ellipse">
            <a:avLst/>
          </a:prstGeom>
          <a:solidFill>
            <a:srgbClr val="0B1E3D"/>
          </a:solidFill>
          <a:ln/>
        </p:spPr>
      </p:sp>
      <p:pic>
        <p:nvPicPr>
          <p:cNvPr id="33" name="Image 9" descr="preencoded.png">    </p:cNvPr>
          <p:cNvPicPr>
            <a:picLocks noChangeAspect="1"/>
          </p:cNvPicPr>
          <p:nvPr/>
        </p:nvPicPr>
        <p:blipFill>
          <a:blip r:embed="rId10"/>
          <a:stretch>
            <a:fillRect/>
          </a:stretch>
        </p:blipFill>
        <p:spPr>
          <a:xfrm>
            <a:off x="6428232" y="2862072"/>
            <a:ext cx="274320" cy="274320"/>
          </a:xfrm>
          <a:prstGeom prst="rect">
            <a:avLst/>
          </a:prstGeom>
        </p:spPr>
      </p:pic>
      <p:sp>
        <p:nvSpPr>
          <p:cNvPr id="34" name="Text 22"/>
          <p:cNvSpPr/>
          <p:nvPr/>
        </p:nvSpPr>
        <p:spPr>
          <a:xfrm>
            <a:off x="6309360" y="324612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Tooltips</a:t>
            </a:r>
            <a:endParaRPr lang="en-US" sz="1050" dirty="0"/>
          </a:p>
        </p:txBody>
      </p:sp>
      <p:sp>
        <p:nvSpPr>
          <p:cNvPr id="35" name="Shape 23"/>
          <p:cNvSpPr/>
          <p:nvPr/>
        </p:nvSpPr>
        <p:spPr>
          <a:xfrm>
            <a:off x="8138160" y="2788920"/>
            <a:ext cx="420624" cy="420624"/>
          </a:xfrm>
          <a:prstGeom prst="ellipse">
            <a:avLst/>
          </a:prstGeom>
          <a:solidFill>
            <a:srgbClr val="0B1E3D"/>
          </a:solidFill>
          <a:ln/>
        </p:spPr>
      </p:sp>
      <p:pic>
        <p:nvPicPr>
          <p:cNvPr id="36" name="Image 10" descr="preencoded.png">    </p:cNvPr>
          <p:cNvPicPr>
            <a:picLocks noChangeAspect="1"/>
          </p:cNvPicPr>
          <p:nvPr/>
        </p:nvPicPr>
        <p:blipFill>
          <a:blip r:embed="rId11"/>
          <a:stretch>
            <a:fillRect/>
          </a:stretch>
        </p:blipFill>
        <p:spPr>
          <a:xfrm>
            <a:off x="8211312" y="2862072"/>
            <a:ext cx="274320" cy="274320"/>
          </a:xfrm>
          <a:prstGeom prst="rect">
            <a:avLst/>
          </a:prstGeom>
        </p:spPr>
      </p:pic>
      <p:sp>
        <p:nvSpPr>
          <p:cNvPr id="37" name="Text 24"/>
          <p:cNvSpPr/>
          <p:nvPr/>
        </p:nvSpPr>
        <p:spPr>
          <a:xfrm>
            <a:off x="8092440" y="324612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Bookmarks</a:t>
            </a:r>
            <a:endParaRPr lang="en-US" sz="1050" dirty="0"/>
          </a:p>
        </p:txBody>
      </p:sp>
      <p:sp>
        <p:nvSpPr>
          <p:cNvPr id="38" name="Shape 25"/>
          <p:cNvSpPr/>
          <p:nvPr/>
        </p:nvSpPr>
        <p:spPr>
          <a:xfrm>
            <a:off x="9921240" y="2788920"/>
            <a:ext cx="420624" cy="420624"/>
          </a:xfrm>
          <a:prstGeom prst="ellipse">
            <a:avLst/>
          </a:prstGeom>
          <a:solidFill>
            <a:srgbClr val="0B1E3D"/>
          </a:solidFill>
          <a:ln/>
        </p:spPr>
      </p:sp>
      <p:pic>
        <p:nvPicPr>
          <p:cNvPr id="39" name="Image 11" descr="preencoded.png">    </p:cNvPr>
          <p:cNvPicPr>
            <a:picLocks noChangeAspect="1"/>
          </p:cNvPicPr>
          <p:nvPr/>
        </p:nvPicPr>
        <p:blipFill>
          <a:blip r:embed="rId12"/>
          <a:stretch>
            <a:fillRect/>
          </a:stretch>
        </p:blipFill>
        <p:spPr>
          <a:xfrm>
            <a:off x="9994392" y="2862072"/>
            <a:ext cx="274320" cy="274320"/>
          </a:xfrm>
          <a:prstGeom prst="rect">
            <a:avLst/>
          </a:prstGeom>
        </p:spPr>
      </p:pic>
      <p:sp>
        <p:nvSpPr>
          <p:cNvPr id="40" name="Text 26"/>
          <p:cNvSpPr/>
          <p:nvPr/>
        </p:nvSpPr>
        <p:spPr>
          <a:xfrm>
            <a:off x="9875520" y="324612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Smart Narrative</a:t>
            </a:r>
            <a:endParaRPr lang="en-US" sz="1050" dirty="0"/>
          </a:p>
        </p:txBody>
      </p:sp>
      <p:sp>
        <p:nvSpPr>
          <p:cNvPr id="41" name="Shape 27"/>
          <p:cNvSpPr/>
          <p:nvPr/>
        </p:nvSpPr>
        <p:spPr>
          <a:xfrm>
            <a:off x="6355080" y="3749040"/>
            <a:ext cx="420624" cy="420624"/>
          </a:xfrm>
          <a:prstGeom prst="ellipse">
            <a:avLst/>
          </a:prstGeom>
          <a:solidFill>
            <a:srgbClr val="0B1E3D"/>
          </a:solidFill>
          <a:ln/>
        </p:spPr>
      </p:sp>
      <p:pic>
        <p:nvPicPr>
          <p:cNvPr id="42" name="Image 12" descr="preencoded.png">    </p:cNvPr>
          <p:cNvPicPr>
            <a:picLocks noChangeAspect="1"/>
          </p:cNvPicPr>
          <p:nvPr/>
        </p:nvPicPr>
        <p:blipFill>
          <a:blip r:embed="rId13"/>
          <a:stretch>
            <a:fillRect/>
          </a:stretch>
        </p:blipFill>
        <p:spPr>
          <a:xfrm>
            <a:off x="6428232" y="3822192"/>
            <a:ext cx="274320" cy="274320"/>
          </a:xfrm>
          <a:prstGeom prst="rect">
            <a:avLst/>
          </a:prstGeom>
        </p:spPr>
      </p:pic>
      <p:sp>
        <p:nvSpPr>
          <p:cNvPr id="43" name="Text 28"/>
          <p:cNvSpPr/>
          <p:nvPr/>
        </p:nvSpPr>
        <p:spPr>
          <a:xfrm>
            <a:off x="6309360" y="420624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Decomposition Tree</a:t>
            </a:r>
            <a:endParaRPr lang="en-US" sz="1050" dirty="0"/>
          </a:p>
        </p:txBody>
      </p:sp>
      <p:sp>
        <p:nvSpPr>
          <p:cNvPr id="44" name="Shape 29"/>
          <p:cNvSpPr/>
          <p:nvPr/>
        </p:nvSpPr>
        <p:spPr>
          <a:xfrm>
            <a:off x="8138160" y="3749040"/>
            <a:ext cx="420624" cy="420624"/>
          </a:xfrm>
          <a:prstGeom prst="ellipse">
            <a:avLst/>
          </a:prstGeom>
          <a:solidFill>
            <a:srgbClr val="0B1E3D"/>
          </a:solidFill>
          <a:ln/>
        </p:spPr>
      </p:sp>
      <p:pic>
        <p:nvPicPr>
          <p:cNvPr id="45" name="Image 13" descr="preencoded.png">    </p:cNvPr>
          <p:cNvPicPr>
            <a:picLocks noChangeAspect="1"/>
          </p:cNvPicPr>
          <p:nvPr/>
        </p:nvPicPr>
        <p:blipFill>
          <a:blip r:embed="rId14"/>
          <a:stretch>
            <a:fillRect/>
          </a:stretch>
        </p:blipFill>
        <p:spPr>
          <a:xfrm>
            <a:off x="8211312" y="3822192"/>
            <a:ext cx="274320" cy="274320"/>
          </a:xfrm>
          <a:prstGeom prst="rect">
            <a:avLst/>
          </a:prstGeom>
        </p:spPr>
      </p:pic>
      <p:sp>
        <p:nvSpPr>
          <p:cNvPr id="46" name="Text 30"/>
          <p:cNvSpPr/>
          <p:nvPr/>
        </p:nvSpPr>
        <p:spPr>
          <a:xfrm>
            <a:off x="8092440" y="420624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Geographic Maps</a:t>
            </a:r>
            <a:endParaRPr lang="en-US" sz="1050" dirty="0"/>
          </a:p>
        </p:txBody>
      </p:sp>
      <p:sp>
        <p:nvSpPr>
          <p:cNvPr id="47" name="Shape 31"/>
          <p:cNvSpPr/>
          <p:nvPr/>
        </p:nvSpPr>
        <p:spPr>
          <a:xfrm>
            <a:off x="9921240" y="3749040"/>
            <a:ext cx="420624" cy="420624"/>
          </a:xfrm>
          <a:prstGeom prst="ellipse">
            <a:avLst/>
          </a:prstGeom>
          <a:solidFill>
            <a:srgbClr val="0B1E3D"/>
          </a:solidFill>
          <a:ln/>
        </p:spPr>
      </p:sp>
      <p:pic>
        <p:nvPicPr>
          <p:cNvPr id="48" name="Image 14" descr="preencoded.png">    </p:cNvPr>
          <p:cNvPicPr>
            <a:picLocks noChangeAspect="1"/>
          </p:cNvPicPr>
          <p:nvPr/>
        </p:nvPicPr>
        <p:blipFill>
          <a:blip r:embed="rId15"/>
          <a:stretch>
            <a:fillRect/>
          </a:stretch>
        </p:blipFill>
        <p:spPr>
          <a:xfrm>
            <a:off x="9994392" y="3822192"/>
            <a:ext cx="274320" cy="274320"/>
          </a:xfrm>
          <a:prstGeom prst="rect">
            <a:avLst/>
          </a:prstGeom>
        </p:spPr>
      </p:pic>
      <p:sp>
        <p:nvSpPr>
          <p:cNvPr id="49" name="Text 32"/>
          <p:cNvSpPr/>
          <p:nvPr/>
        </p:nvSpPr>
        <p:spPr>
          <a:xfrm>
            <a:off x="9875520" y="4206240"/>
            <a:ext cx="1828800" cy="411480"/>
          </a:xfrm>
          <a:prstGeom prst="rect">
            <a:avLst/>
          </a:prstGeom>
          <a:noFill/>
          <a:ln/>
        </p:spPr>
        <p:txBody>
          <a:bodyPr wrap="square" lIns="0" tIns="0" rIns="0" bIns="0" rtlCol="0" anchor="t"/>
          <a:lstStyle/>
          <a:p>
            <a:pPr algn="ctr" indent="0" marL="0">
              <a:lnSpc>
                <a:spcPct val="105000"/>
              </a:lnSpc>
              <a:buNone/>
            </a:pPr>
            <a:r>
              <a:rPr lang="en-US" sz="1050" dirty="0">
                <a:solidFill>
                  <a:srgbClr val="1B2436"/>
                </a:solidFill>
                <a:latin typeface="Calibri" pitchFamily="34" charset="0"/>
                <a:ea typeface="Calibri" pitchFamily="34" charset="-122"/>
                <a:cs typeface="Calibri" pitchFamily="34" charset="-120"/>
              </a:rPr>
              <a:t>Interactive Slicers</a:t>
            </a:r>
            <a:endParaRPr lang="en-US" sz="1050" dirty="0"/>
          </a:p>
        </p:txBody>
      </p:sp>
      <p:sp>
        <p:nvSpPr>
          <p:cNvPr id="50" name="Text 33"/>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65718A"/>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51" name="Text 34"/>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65718A"/>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E3D"/>
        </a:solidFill>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132A4F"/>
          </a:solidFill>
          <a:ln/>
        </p:spPr>
      </p:sp>
      <p:sp>
        <p:nvSpPr>
          <p:cNvPr id="3" name="Shape 1"/>
          <p:cNvSpPr/>
          <p:nvPr/>
        </p:nvSpPr>
        <p:spPr>
          <a:xfrm>
            <a:off x="10058400" y="4114800"/>
            <a:ext cx="4114800" cy="4114800"/>
          </a:xfrm>
          <a:prstGeom prst="ellipse">
            <a:avLst/>
          </a:prstGeom>
          <a:solidFill>
            <a:srgbClr val="132A4F"/>
          </a:solidFill>
          <a:ln/>
        </p:spPr>
      </p:sp>
      <p:sp>
        <p:nvSpPr>
          <p:cNvPr id="4" name="Shape 2"/>
          <p:cNvSpPr/>
          <p:nvPr/>
        </p:nvSpPr>
        <p:spPr>
          <a:xfrm>
            <a:off x="777240" y="640080"/>
            <a:ext cx="685800" cy="685800"/>
          </a:xfrm>
          <a:prstGeom prst="ellipse">
            <a:avLst/>
          </a:prstGeom>
          <a:solidFill>
            <a:srgbClr val="C99A3E"/>
          </a:solidFill>
          <a:ln/>
        </p:spPr>
      </p:sp>
      <p:pic>
        <p:nvPicPr>
          <p:cNvPr id="5" name="Image 0" descr="preencoded.png">    </p:cNvPr>
          <p:cNvPicPr>
            <a:picLocks noChangeAspect="1"/>
          </p:cNvPicPr>
          <p:nvPr/>
        </p:nvPicPr>
        <p:blipFill>
          <a:blip r:embed="rId1"/>
          <a:stretch>
            <a:fillRect/>
          </a:stretch>
        </p:blipFill>
        <p:spPr>
          <a:xfrm>
            <a:off x="931545" y="794385"/>
            <a:ext cx="377190" cy="377190"/>
          </a:xfrm>
          <a:prstGeom prst="rect">
            <a:avLst/>
          </a:prstGeom>
        </p:spPr>
      </p:pic>
      <p:sp>
        <p:nvSpPr>
          <p:cNvPr id="6" name="Text 3"/>
          <p:cNvSpPr/>
          <p:nvPr/>
        </p:nvSpPr>
        <p:spPr>
          <a:xfrm>
            <a:off x="1645920" y="713232"/>
            <a:ext cx="9144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Conclusion &amp; Expected Outcomes</a:t>
            </a:r>
            <a:endParaRPr lang="en-US" sz="2800" dirty="0"/>
          </a:p>
        </p:txBody>
      </p:sp>
      <p:sp>
        <p:nvSpPr>
          <p:cNvPr id="7" name="Shape 4"/>
          <p:cNvSpPr/>
          <p:nvPr/>
        </p:nvSpPr>
        <p:spPr>
          <a:xfrm>
            <a:off x="777240" y="1691640"/>
            <a:ext cx="365760" cy="365760"/>
          </a:xfrm>
          <a:prstGeom prst="ellipse">
            <a:avLst/>
          </a:prstGeom>
          <a:solidFill>
            <a:srgbClr val="C99A3E"/>
          </a:solidFill>
          <a:ln/>
        </p:spPr>
      </p:sp>
      <p:pic>
        <p:nvPicPr>
          <p:cNvPr id="8" name="Image 1" descr="preencoded.png">    </p:cNvPr>
          <p:cNvPicPr>
            <a:picLocks noChangeAspect="1"/>
          </p:cNvPicPr>
          <p:nvPr/>
        </p:nvPicPr>
        <p:blipFill>
          <a:blip r:embed="rId2"/>
          <a:stretch>
            <a:fillRect/>
          </a:stretch>
        </p:blipFill>
        <p:spPr>
          <a:xfrm>
            <a:off x="850392" y="1764792"/>
            <a:ext cx="219456" cy="219456"/>
          </a:xfrm>
          <a:prstGeom prst="rect">
            <a:avLst/>
          </a:prstGeom>
        </p:spPr>
      </p:pic>
      <p:sp>
        <p:nvSpPr>
          <p:cNvPr id="9" name="Text 5"/>
          <p:cNvSpPr/>
          <p:nvPr/>
        </p:nvSpPr>
        <p:spPr>
          <a:xfrm>
            <a:off x="1280160" y="1645920"/>
            <a:ext cx="4709160" cy="731520"/>
          </a:xfrm>
          <a:prstGeom prst="rect">
            <a:avLst/>
          </a:prstGeom>
          <a:noFill/>
          <a:ln/>
        </p:spPr>
        <p:txBody>
          <a:bodyPr wrap="square" rtlCol="0" anchor="ctr"/>
          <a:lstStyle/>
          <a:p>
            <a:pPr indent="0" marL="0">
              <a:lnSpc>
                <a:spcPct val="115000"/>
              </a:lnSpc>
              <a:buNone/>
            </a:pPr>
            <a:r>
              <a:rPr lang="en-US" sz="1250" dirty="0">
                <a:solidFill>
                  <a:srgbClr val="AFC3DD"/>
                </a:solidFill>
                <a:latin typeface="Calibri" pitchFamily="34" charset="0"/>
                <a:ea typeface="Calibri" pitchFamily="34" charset="-122"/>
                <a:cs typeface="Calibri" pitchFamily="34" charset="-120"/>
              </a:rPr>
              <a:t>Interactive Power BI dashboards with multiple analytical views</a:t>
            </a:r>
            <a:endParaRPr lang="en-US" sz="1250" dirty="0"/>
          </a:p>
        </p:txBody>
      </p:sp>
      <p:sp>
        <p:nvSpPr>
          <p:cNvPr id="10" name="Shape 6"/>
          <p:cNvSpPr/>
          <p:nvPr/>
        </p:nvSpPr>
        <p:spPr>
          <a:xfrm>
            <a:off x="6446520" y="1691640"/>
            <a:ext cx="365760" cy="365760"/>
          </a:xfrm>
          <a:prstGeom prst="ellipse">
            <a:avLst/>
          </a:prstGeom>
          <a:solidFill>
            <a:srgbClr val="C99A3E"/>
          </a:solidFill>
          <a:ln/>
        </p:spPr>
      </p:sp>
      <p:pic>
        <p:nvPicPr>
          <p:cNvPr id="11" name="Image 2" descr="preencoded.png">    </p:cNvPr>
          <p:cNvPicPr>
            <a:picLocks noChangeAspect="1"/>
          </p:cNvPicPr>
          <p:nvPr/>
        </p:nvPicPr>
        <p:blipFill>
          <a:blip r:embed="rId3"/>
          <a:stretch>
            <a:fillRect/>
          </a:stretch>
        </p:blipFill>
        <p:spPr>
          <a:xfrm>
            <a:off x="6519672" y="1764792"/>
            <a:ext cx="219456" cy="219456"/>
          </a:xfrm>
          <a:prstGeom prst="rect">
            <a:avLst/>
          </a:prstGeom>
        </p:spPr>
      </p:pic>
      <p:sp>
        <p:nvSpPr>
          <p:cNvPr id="12" name="Text 7"/>
          <p:cNvSpPr/>
          <p:nvPr/>
        </p:nvSpPr>
        <p:spPr>
          <a:xfrm>
            <a:off x="6949440" y="1645920"/>
            <a:ext cx="4709160" cy="731520"/>
          </a:xfrm>
          <a:prstGeom prst="rect">
            <a:avLst/>
          </a:prstGeom>
          <a:noFill/>
          <a:ln/>
        </p:spPr>
        <p:txBody>
          <a:bodyPr wrap="square" rtlCol="0" anchor="ctr"/>
          <a:lstStyle/>
          <a:p>
            <a:pPr indent="0" marL="0">
              <a:lnSpc>
                <a:spcPct val="115000"/>
              </a:lnSpc>
              <a:buNone/>
            </a:pPr>
            <a:r>
              <a:rPr lang="en-US" sz="1250" dirty="0">
                <a:solidFill>
                  <a:srgbClr val="AFC3DD"/>
                </a:solidFill>
                <a:latin typeface="Calibri" pitchFamily="34" charset="0"/>
                <a:ea typeface="Calibri" pitchFamily="34" charset="-122"/>
                <a:cs typeface="Calibri" pitchFamily="34" charset="-120"/>
              </a:rPr>
              <a:t>Clear identification of top-performing industries and countries</a:t>
            </a:r>
            <a:endParaRPr lang="en-US" sz="1250" dirty="0"/>
          </a:p>
        </p:txBody>
      </p:sp>
      <p:sp>
        <p:nvSpPr>
          <p:cNvPr id="13" name="Shape 8"/>
          <p:cNvSpPr/>
          <p:nvPr/>
        </p:nvSpPr>
        <p:spPr>
          <a:xfrm>
            <a:off x="777240" y="2606040"/>
            <a:ext cx="365760" cy="365760"/>
          </a:xfrm>
          <a:prstGeom prst="ellipse">
            <a:avLst/>
          </a:prstGeom>
          <a:solidFill>
            <a:srgbClr val="C99A3E"/>
          </a:solidFill>
          <a:ln/>
        </p:spPr>
      </p:sp>
      <p:pic>
        <p:nvPicPr>
          <p:cNvPr id="14" name="Image 3" descr="preencoded.png">    </p:cNvPr>
          <p:cNvPicPr>
            <a:picLocks noChangeAspect="1"/>
          </p:cNvPicPr>
          <p:nvPr/>
        </p:nvPicPr>
        <p:blipFill>
          <a:blip r:embed="rId4"/>
          <a:stretch>
            <a:fillRect/>
          </a:stretch>
        </p:blipFill>
        <p:spPr>
          <a:xfrm>
            <a:off x="850392" y="2679192"/>
            <a:ext cx="219456" cy="219456"/>
          </a:xfrm>
          <a:prstGeom prst="rect">
            <a:avLst/>
          </a:prstGeom>
        </p:spPr>
      </p:pic>
      <p:sp>
        <p:nvSpPr>
          <p:cNvPr id="15" name="Text 9"/>
          <p:cNvSpPr/>
          <p:nvPr/>
        </p:nvSpPr>
        <p:spPr>
          <a:xfrm>
            <a:off x="1280160" y="2560320"/>
            <a:ext cx="4709160" cy="731520"/>
          </a:xfrm>
          <a:prstGeom prst="rect">
            <a:avLst/>
          </a:prstGeom>
          <a:noFill/>
          <a:ln/>
        </p:spPr>
        <p:txBody>
          <a:bodyPr wrap="square" rtlCol="0" anchor="ctr"/>
          <a:lstStyle/>
          <a:p>
            <a:pPr indent="0" marL="0">
              <a:lnSpc>
                <a:spcPct val="115000"/>
              </a:lnSpc>
              <a:buNone/>
            </a:pPr>
            <a:r>
              <a:rPr lang="en-US" sz="1250" dirty="0">
                <a:solidFill>
                  <a:srgbClr val="AFC3DD"/>
                </a:solidFill>
                <a:latin typeface="Calibri" pitchFamily="34" charset="0"/>
                <a:ea typeface="Calibri" pitchFamily="34" charset="-122"/>
                <a:cs typeface="Calibri" pitchFamily="34" charset="-120"/>
              </a:rPr>
              <a:t>Actionable insights into venture capital investment trends</a:t>
            </a:r>
            <a:endParaRPr lang="en-US" sz="1250" dirty="0"/>
          </a:p>
        </p:txBody>
      </p:sp>
      <p:sp>
        <p:nvSpPr>
          <p:cNvPr id="16" name="Shape 10"/>
          <p:cNvSpPr/>
          <p:nvPr/>
        </p:nvSpPr>
        <p:spPr>
          <a:xfrm>
            <a:off x="6446520" y="2606040"/>
            <a:ext cx="365760" cy="365760"/>
          </a:xfrm>
          <a:prstGeom prst="ellipse">
            <a:avLst/>
          </a:prstGeom>
          <a:solidFill>
            <a:srgbClr val="C99A3E"/>
          </a:solidFill>
          <a:ln/>
        </p:spPr>
      </p:sp>
      <p:pic>
        <p:nvPicPr>
          <p:cNvPr id="17" name="Image 4" descr="preencoded.png">    </p:cNvPr>
          <p:cNvPicPr>
            <a:picLocks noChangeAspect="1"/>
          </p:cNvPicPr>
          <p:nvPr/>
        </p:nvPicPr>
        <p:blipFill>
          <a:blip r:embed="rId5"/>
          <a:stretch>
            <a:fillRect/>
          </a:stretch>
        </p:blipFill>
        <p:spPr>
          <a:xfrm>
            <a:off x="6519672" y="2679192"/>
            <a:ext cx="219456" cy="219456"/>
          </a:xfrm>
          <a:prstGeom prst="rect">
            <a:avLst/>
          </a:prstGeom>
        </p:spPr>
      </p:pic>
      <p:sp>
        <p:nvSpPr>
          <p:cNvPr id="18" name="Text 11"/>
          <p:cNvSpPr/>
          <p:nvPr/>
        </p:nvSpPr>
        <p:spPr>
          <a:xfrm>
            <a:off x="6949440" y="2560320"/>
            <a:ext cx="4709160" cy="731520"/>
          </a:xfrm>
          <a:prstGeom prst="rect">
            <a:avLst/>
          </a:prstGeom>
          <a:noFill/>
          <a:ln/>
        </p:spPr>
        <p:txBody>
          <a:bodyPr wrap="square" rtlCol="0" anchor="ctr"/>
          <a:lstStyle/>
          <a:p>
            <a:pPr indent="0" marL="0">
              <a:lnSpc>
                <a:spcPct val="115000"/>
              </a:lnSpc>
              <a:buNone/>
            </a:pPr>
            <a:r>
              <a:rPr lang="en-US" sz="1250" dirty="0">
                <a:solidFill>
                  <a:srgbClr val="AFC3DD"/>
                </a:solidFill>
                <a:latin typeface="Calibri" pitchFamily="34" charset="0"/>
                <a:ea typeface="Calibri" pitchFamily="34" charset="-122"/>
                <a:cs typeface="Calibri" pitchFamily="34" charset="-120"/>
              </a:rPr>
              <a:t>Startup growth and funding pattern analysis</a:t>
            </a:r>
            <a:endParaRPr lang="en-US" sz="1250" dirty="0"/>
          </a:p>
        </p:txBody>
      </p:sp>
      <p:sp>
        <p:nvSpPr>
          <p:cNvPr id="19" name="Shape 12"/>
          <p:cNvSpPr/>
          <p:nvPr/>
        </p:nvSpPr>
        <p:spPr>
          <a:xfrm>
            <a:off x="777240" y="3520440"/>
            <a:ext cx="365760" cy="365760"/>
          </a:xfrm>
          <a:prstGeom prst="ellipse">
            <a:avLst/>
          </a:prstGeom>
          <a:solidFill>
            <a:srgbClr val="C99A3E"/>
          </a:solidFill>
          <a:ln/>
        </p:spPr>
      </p:sp>
      <p:pic>
        <p:nvPicPr>
          <p:cNvPr id="20" name="Image 5" descr="preencoded.png">    </p:cNvPr>
          <p:cNvPicPr>
            <a:picLocks noChangeAspect="1"/>
          </p:cNvPicPr>
          <p:nvPr/>
        </p:nvPicPr>
        <p:blipFill>
          <a:blip r:embed="rId6"/>
          <a:stretch>
            <a:fillRect/>
          </a:stretch>
        </p:blipFill>
        <p:spPr>
          <a:xfrm>
            <a:off x="850392" y="3593592"/>
            <a:ext cx="219456" cy="219456"/>
          </a:xfrm>
          <a:prstGeom prst="rect">
            <a:avLst/>
          </a:prstGeom>
        </p:spPr>
      </p:pic>
      <p:sp>
        <p:nvSpPr>
          <p:cNvPr id="21" name="Text 13"/>
          <p:cNvSpPr/>
          <p:nvPr/>
        </p:nvSpPr>
        <p:spPr>
          <a:xfrm>
            <a:off x="1280160" y="3474720"/>
            <a:ext cx="4709160" cy="731520"/>
          </a:xfrm>
          <a:prstGeom prst="rect">
            <a:avLst/>
          </a:prstGeom>
          <a:noFill/>
          <a:ln/>
        </p:spPr>
        <p:txBody>
          <a:bodyPr wrap="square" rtlCol="0" anchor="ctr"/>
          <a:lstStyle/>
          <a:p>
            <a:pPr indent="0" marL="0">
              <a:lnSpc>
                <a:spcPct val="115000"/>
              </a:lnSpc>
              <a:buNone/>
            </a:pPr>
            <a:r>
              <a:rPr lang="en-US" sz="1250" dirty="0">
                <a:solidFill>
                  <a:srgbClr val="AFC3DD"/>
                </a:solidFill>
                <a:latin typeface="Calibri" pitchFamily="34" charset="0"/>
                <a:ea typeface="Calibri" pitchFamily="34" charset="-122"/>
                <a:cs typeface="Calibri" pitchFamily="34" charset="-120"/>
              </a:rPr>
              <a:t>Acquisition and IPO performance monitoring</a:t>
            </a:r>
            <a:endParaRPr lang="en-US" sz="1250" dirty="0"/>
          </a:p>
        </p:txBody>
      </p:sp>
      <p:sp>
        <p:nvSpPr>
          <p:cNvPr id="22" name="Shape 14"/>
          <p:cNvSpPr/>
          <p:nvPr/>
        </p:nvSpPr>
        <p:spPr>
          <a:xfrm>
            <a:off x="6446520" y="3520440"/>
            <a:ext cx="365760" cy="365760"/>
          </a:xfrm>
          <a:prstGeom prst="ellipse">
            <a:avLst/>
          </a:prstGeom>
          <a:solidFill>
            <a:srgbClr val="C99A3E"/>
          </a:solidFill>
          <a:ln/>
        </p:spPr>
      </p:sp>
      <p:pic>
        <p:nvPicPr>
          <p:cNvPr id="23" name="Image 6" descr="preencoded.png">    </p:cNvPr>
          <p:cNvPicPr>
            <a:picLocks noChangeAspect="1"/>
          </p:cNvPicPr>
          <p:nvPr/>
        </p:nvPicPr>
        <p:blipFill>
          <a:blip r:embed="rId7"/>
          <a:stretch>
            <a:fillRect/>
          </a:stretch>
        </p:blipFill>
        <p:spPr>
          <a:xfrm>
            <a:off x="6519672" y="3593592"/>
            <a:ext cx="219456" cy="219456"/>
          </a:xfrm>
          <a:prstGeom prst="rect">
            <a:avLst/>
          </a:prstGeom>
        </p:spPr>
      </p:pic>
      <p:sp>
        <p:nvSpPr>
          <p:cNvPr id="24" name="Text 15"/>
          <p:cNvSpPr/>
          <p:nvPr/>
        </p:nvSpPr>
        <p:spPr>
          <a:xfrm>
            <a:off x="6949440" y="3474720"/>
            <a:ext cx="4709160" cy="731520"/>
          </a:xfrm>
          <a:prstGeom prst="rect">
            <a:avLst/>
          </a:prstGeom>
          <a:noFill/>
          <a:ln/>
        </p:spPr>
        <p:txBody>
          <a:bodyPr wrap="square" rtlCol="0" anchor="ctr"/>
          <a:lstStyle/>
          <a:p>
            <a:pPr indent="0" marL="0">
              <a:lnSpc>
                <a:spcPct val="115000"/>
              </a:lnSpc>
              <a:buNone/>
            </a:pPr>
            <a:r>
              <a:rPr lang="en-US" sz="1250" dirty="0">
                <a:solidFill>
                  <a:srgbClr val="AFC3DD"/>
                </a:solidFill>
                <a:latin typeface="Calibri" pitchFamily="34" charset="0"/>
                <a:ea typeface="Calibri" pitchFamily="34" charset="-122"/>
                <a:cs typeface="Calibri" pitchFamily="34" charset="-120"/>
              </a:rPr>
              <a:t>Investor activity and participation analysis</a:t>
            </a:r>
            <a:endParaRPr lang="en-US" sz="1250" dirty="0"/>
          </a:p>
        </p:txBody>
      </p:sp>
      <p:sp>
        <p:nvSpPr>
          <p:cNvPr id="25" name="Shape 16"/>
          <p:cNvSpPr/>
          <p:nvPr/>
        </p:nvSpPr>
        <p:spPr>
          <a:xfrm>
            <a:off x="777240" y="4754880"/>
            <a:ext cx="10607040" cy="1234440"/>
          </a:xfrm>
          <a:prstGeom prst="roundRect">
            <a:avLst>
              <a:gd name="adj" fmla="val 7407"/>
            </a:avLst>
          </a:prstGeom>
          <a:solidFill>
            <a:srgbClr val="132A4F"/>
          </a:solidFill>
          <a:ln/>
        </p:spPr>
      </p:sp>
      <p:sp>
        <p:nvSpPr>
          <p:cNvPr id="26" name="Text 17"/>
          <p:cNvSpPr/>
          <p:nvPr/>
        </p:nvSpPr>
        <p:spPr>
          <a:xfrm>
            <a:off x="1143000" y="4754880"/>
            <a:ext cx="9875520" cy="1234440"/>
          </a:xfrm>
          <a:prstGeom prst="rect">
            <a:avLst/>
          </a:prstGeom>
          <a:noFill/>
          <a:ln/>
        </p:spPr>
        <p:txBody>
          <a:bodyPr wrap="square" rtlCol="0" anchor="ctr"/>
          <a:lstStyle/>
          <a:p>
            <a:pPr algn="ctr" indent="0" marL="0">
              <a:lnSpc>
                <a:spcPct val="125000"/>
              </a:lnSpc>
              <a:buNone/>
            </a:pPr>
            <a:r>
              <a:rPr lang="en-US" sz="1450" i="1" dirty="0">
                <a:solidFill>
                  <a:srgbClr val="E8C97A"/>
                </a:solidFill>
                <a:latin typeface="Calibri" pitchFamily="34" charset="0"/>
                <a:ea typeface="Calibri" pitchFamily="34" charset="-122"/>
                <a:cs typeface="Calibri" pitchFamily="34" charset="-120"/>
              </a:rPr>
              <a:t>Turning 413,000+ data points into a clear, data-driven view of how the world funds innovation — enabling investors, founders, and analysts to make smarter, faster decisions.</a:t>
            </a:r>
            <a:endParaRPr lang="en-US" sz="1450" dirty="0"/>
          </a:p>
        </p:txBody>
      </p:sp>
      <p:sp>
        <p:nvSpPr>
          <p:cNvPr id="27" name="Text 18"/>
          <p:cNvSpPr/>
          <p:nvPr/>
        </p:nvSpPr>
        <p:spPr>
          <a:xfrm>
            <a:off x="548640" y="6473952"/>
            <a:ext cx="5486400" cy="274320"/>
          </a:xfrm>
          <a:prstGeom prst="rect">
            <a:avLst/>
          </a:prstGeom>
          <a:noFill/>
          <a:ln/>
        </p:spPr>
        <p:txBody>
          <a:bodyPr wrap="square" rtlCol="0" anchor="ctr"/>
          <a:lstStyle/>
          <a:p>
            <a:pPr indent="0" marL="0">
              <a:buNone/>
            </a:pPr>
            <a:r>
              <a:rPr lang="en-US" sz="950" i="1" dirty="0">
                <a:solidFill>
                  <a:srgbClr val="8497B8"/>
                </a:solidFill>
                <a:latin typeface="Calibri" pitchFamily="34" charset="0"/>
                <a:ea typeface="Calibri" pitchFamily="34" charset="-122"/>
                <a:cs typeface="Calibri" pitchFamily="34" charset="-120"/>
              </a:rPr>
              <a:t>Global Startup &amp; Investment Intelligence Platform</a:t>
            </a:r>
            <a:endParaRPr lang="en-US" sz="950" dirty="0"/>
          </a:p>
        </p:txBody>
      </p:sp>
      <p:sp>
        <p:nvSpPr>
          <p:cNvPr id="28" name="Text 19"/>
          <p:cNvSpPr/>
          <p:nvPr/>
        </p:nvSpPr>
        <p:spPr>
          <a:xfrm>
            <a:off x="11277295" y="6473952"/>
            <a:ext cx="457200" cy="274320"/>
          </a:xfrm>
          <a:prstGeom prst="rect">
            <a:avLst/>
          </a:prstGeom>
          <a:noFill/>
          <a:ln/>
        </p:spPr>
        <p:txBody>
          <a:bodyPr wrap="square" rtlCol="0" anchor="ctr"/>
          <a:lstStyle/>
          <a:p>
            <a:pPr algn="r" indent="0" marL="0">
              <a:buNone/>
            </a:pPr>
            <a:r>
              <a:rPr lang="en-US" sz="950" dirty="0">
                <a:solidFill>
                  <a:srgbClr val="8497B8"/>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Startup &amp; Investment Intelligence Platform</dc:title>
  <dc:subject>PptxGenJS Presentation</dc:subject>
  <dc:creator>Abhiram Kulkarni</dc:creator>
  <cp:lastModifiedBy>Abhiram Kulkarni</cp:lastModifiedBy>
  <cp:revision>1</cp:revision>
  <dcterms:created xsi:type="dcterms:W3CDTF">2026-06-17T13:40:37Z</dcterms:created>
  <dcterms:modified xsi:type="dcterms:W3CDTF">2026-06-17T13:40:37Z</dcterms:modified>
</cp:coreProperties>
</file>